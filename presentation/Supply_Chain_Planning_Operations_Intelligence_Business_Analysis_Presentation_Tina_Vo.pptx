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69007" autoAdjust="0"/>
  </p:normalViewPr>
  <p:slideViewPr>
    <p:cSldViewPr snapToGrid="0" snapToObjects="1">
      <p:cViewPr varScale="1">
        <p:scale>
          <a:sx n="113" d="100"/>
          <a:sy n="113" d="100"/>
        </p:scale>
        <p:origin x="39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4635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416E"/>
          </a:solidFill>
          <a:ln>
            <a:solidFill>
              <a:srgbClr val="1441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658368"/>
            <a:ext cx="100584" cy="5212080"/>
          </a:xfrm>
          <a:prstGeom prst="rect">
            <a:avLst/>
          </a:prstGeom>
          <a:solidFill>
            <a:srgbClr val="267ED6"/>
          </a:solidFill>
          <a:ln>
            <a:solidFill>
              <a:srgbClr val="267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960120"/>
            <a:ext cx="98755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SUPPLY CHAIN PLANNING</a:t>
            </a:r>
            <a:br/>
            <a:r>
              <a:rPr sz="3000" b="1">
                <a:solidFill>
                  <a:srgbClr val="FFFFFF"/>
                </a:solidFill>
                <a:latin typeface="Aptos"/>
              </a:rPr>
              <a:t>&amp; OPERATIONS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2514600"/>
            <a:ext cx="8046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BEDCF5"/>
                </a:solidFill>
                <a:latin typeface="Aptos"/>
              </a:rPr>
              <a:t>Project #4 — Management Business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3090672"/>
            <a:ext cx="97840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From original planning demand &amp; capacity → optimization scenarios → management action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" y="4160520"/>
            <a:ext cx="9509760" cy="1005840"/>
          </a:xfrm>
          <a:prstGeom prst="roundRect">
            <a:avLst>
              <a:gd name="adj" fmla="val 8000"/>
            </a:avLst>
          </a:prstGeom>
          <a:solidFill>
            <a:srgbClr val="1D5084"/>
          </a:solidFill>
          <a:ln>
            <a:solidFill>
              <a:srgbClr val="4B8C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4370832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EDCF5"/>
                </a:solidFill>
                <a:latin typeface="Aptos"/>
              </a:rPr>
              <a:t>Decision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4315968"/>
            <a:ext cx="7315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How should managers balance demand fulfillment, bottleneck exposure, processing effort and overtime?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5989320"/>
            <a:ext cx="9601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EDCF5"/>
                </a:solidFill>
                <a:latin typeface="Aptos"/>
              </a:rPr>
              <a:t>Tina Vo  |  Databricks • SQL • Python Optimization • Power BI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750"/>
    </mc:Choice>
    <mc:Fallback xmlns="">
      <p:transition spd="slow" advTm="3575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14416E"/>
                </a:solidFill>
                <a:latin typeface="Aptos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6984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A6978"/>
                </a:solidFill>
                <a:latin typeface="Aptos"/>
              </a:rPr>
              <a:t>Management-focused analytical storyline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155680" cy="27432"/>
          </a:xfrm>
          <a:prstGeom prst="rect">
            <a:avLst/>
          </a:prstGeom>
          <a:solidFill>
            <a:srgbClr val="267ED6"/>
          </a:solidFill>
          <a:ln>
            <a:solidFill>
              <a:srgbClr val="267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292840" y="292608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1">
                <a:solidFill>
                  <a:srgbClr val="5D708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37960"/>
            <a:ext cx="9784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A6978"/>
                </a:solidFill>
                <a:latin typeface="Aptos"/>
              </a:rPr>
              <a:t>Project #4 | Supply Chain Planning &amp; Operations Intelligence | Tina Vo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4983480" cy="105156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0020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7ED6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581912"/>
            <a:ext cx="3886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416E"/>
                </a:solidFill>
                <a:latin typeface="Aptos"/>
              </a:rPr>
              <a:t>Business problem &amp; decision 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34640"/>
            <a:ext cx="4983480" cy="105156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7ED6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999232"/>
            <a:ext cx="3886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416E"/>
                </a:solidFill>
                <a:latin typeface="Aptos"/>
              </a:rPr>
              <a:t>Original demand &amp; capacity baseline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51960"/>
            <a:ext cx="4983480" cy="105156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43484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7ED6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416552"/>
            <a:ext cx="3886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416E"/>
                </a:solidFill>
                <a:latin typeface="Aptos"/>
              </a:rPr>
              <a:t>Capacity constraints &amp; bottlenecks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417320"/>
            <a:ext cx="4983480" cy="105156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160020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7ED6"/>
                </a:solidFill>
                <a:latin typeface="Apto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1581912"/>
            <a:ext cx="3886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416E"/>
                </a:solidFill>
                <a:latin typeface="Aptos"/>
              </a:rPr>
              <a:t>Demand allocation &amp; scenario trade-offs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834640"/>
            <a:ext cx="4983480" cy="105156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301752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7ED6"/>
                </a:solidFill>
                <a:latin typeface="Aptos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2999232"/>
            <a:ext cx="3886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416E"/>
                </a:solidFill>
                <a:latin typeface="Aptos"/>
              </a:rPr>
              <a:t>Planning strategy &amp; decision framework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251960"/>
            <a:ext cx="4983480" cy="105156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4434840"/>
            <a:ext cx="502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267ED6"/>
                </a:solidFill>
                <a:latin typeface="Aptos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4416552"/>
            <a:ext cx="3886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4416E"/>
                </a:solidFill>
                <a:latin typeface="Aptos"/>
              </a:rPr>
              <a:t>Risks → diagnostics → actions → impact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915"/>
    </mc:Choice>
    <mc:Fallback xmlns="">
      <p:transition spd="slow" advTm="39915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698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184674"/>
                </a:solidFill>
                <a:latin typeface="Aptos"/>
              </a:defRPr>
            </a:pPr>
            <a:r>
              <a:t>Business Problem: Planning Demand, Capacity &amp; Allocation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67512"/>
            <a:ext cx="106070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D7084"/>
                </a:solidFill>
                <a:latin typeface="Aptos"/>
              </a:defRPr>
            </a:pPr>
            <a:r>
              <a:t>Two connected questions: what risk is embedded in the original plan, and how should optimization respond?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11155680" cy="32004"/>
          </a:xfrm>
          <a:prstGeom prst="rect">
            <a:avLst/>
          </a:prstGeom>
          <a:solidFill>
            <a:srgbClr val="258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900" b="1">
                <a:solidFill>
                  <a:srgbClr val="5D708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56248"/>
            <a:ext cx="8229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5D7084"/>
                </a:solidFill>
                <a:latin typeface="Aptos"/>
              </a:defRPr>
            </a:pPr>
            <a:r>
              <a:t>Project #4 | Supply Chain Planning &amp; Operations Intelligence | Tina Vo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261872"/>
            <a:ext cx="5440680" cy="5074920"/>
          </a:xfrm>
          <a:prstGeom prst="roundRect">
            <a:avLst/>
          </a:prstGeom>
          <a:solidFill>
            <a:srgbClr val="E7F3FC"/>
          </a:solidFill>
          <a:ln w="12700">
            <a:solidFill>
              <a:srgbClr val="ABC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63150"/>
            <a:ext cx="4800600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84674"/>
                </a:solidFill>
                <a:latin typeface="Aptos"/>
              </a:defRPr>
            </a:pPr>
            <a:r>
              <a:rPr dirty="0">
                <a:solidFill>
                  <a:schemeClr val="tx2">
                    <a:lumMod val="60000"/>
                    <a:lumOff val="40000"/>
                  </a:schemeClr>
                </a:solidFill>
              </a:rPr>
              <a:t>1 </a:t>
            </a:r>
            <a:r>
              <a:rPr dirty="0"/>
              <a:t> </a:t>
            </a:r>
            <a:r>
              <a:rPr dirty="0">
                <a:solidFill>
                  <a:schemeClr val="tx2">
                    <a:lumMod val="60000"/>
                    <a:lumOff val="40000"/>
                  </a:schemeClr>
                </a:solidFill>
              </a:rPr>
              <a:t>ORIGINAL PLANNING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47088"/>
            <a:ext cx="47548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283442"/>
                </a:solidFill>
                <a:latin typeface="Aptos"/>
              </a:defRPr>
            </a:pPr>
            <a:r>
              <a:t>What was originally planned — and where could capacity risk emerge?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23744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580E0"/>
                </a:solidFill>
                <a:latin typeface="Aptos"/>
              </a:defRPr>
            </a:pPr>
            <a:r>
              <a:t>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61488"/>
            <a:ext cx="47091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84674"/>
                </a:solidFill>
                <a:latin typeface="Aptos"/>
              </a:defRPr>
            </a:pPr>
            <a:r>
              <a:t>The original plan contains 3.07M meters of demand, with approximately 72% concentrated in P7–P8. This late-horizon concentration increases exposure to period-specific capacity and eligible-resource constraints.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22191"/>
            <a:ext cx="470916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0">
                <a:solidFill>
                  <a:srgbClr val="283442"/>
                </a:solidFill>
                <a:latin typeface="Aptos"/>
              </a:defRPr>
            </a:pPr>
            <a:r>
              <a:rPr dirty="0"/>
              <a:t>Evidence</a:t>
            </a:r>
            <a:br>
              <a:rPr dirty="0"/>
            </a:br>
            <a:r>
              <a:rPr dirty="0"/>
              <a:t>• P3–P6: ~0.85M m combined</a:t>
            </a:r>
            <a:br>
              <a:rPr dirty="0"/>
            </a:br>
            <a:r>
              <a:rPr dirty="0"/>
              <a:t>• P7–P8: ~2.22M m combined</a:t>
            </a:r>
            <a:br>
              <a:rPr dirty="0"/>
            </a:br>
            <a:r>
              <a:rPr dirty="0"/>
              <a:t>• Capacity is resource- and period-specific</a:t>
            </a:r>
            <a:br>
              <a:rPr dirty="0"/>
            </a:br>
            <a:r>
              <a:rPr dirty="0"/>
              <a:t>• Eligible routes limit how freely workload can shift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5230368"/>
            <a:ext cx="4709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7B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24128" y="5330952"/>
            <a:ext cx="440740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20" b="1">
                <a:solidFill>
                  <a:srgbClr val="184674"/>
                </a:solidFill>
                <a:latin typeface="Aptos"/>
              </a:defRPr>
            </a:pPr>
            <a:r>
              <a:rPr dirty="0"/>
              <a:t>Implication: concentration can reduce planning flexibility even when aggregate capacity exists.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261872"/>
            <a:ext cx="5440680" cy="507492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1481328"/>
            <a:ext cx="4800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2580E0"/>
                </a:solidFill>
                <a:latin typeface="Aptos"/>
              </a:defRPr>
            </a:pPr>
            <a:r>
              <a:t>2  OPTIMIZATION PROBLEM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847088"/>
            <a:ext cx="475488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283442"/>
                </a:solidFill>
                <a:latin typeface="Aptos"/>
              </a:defRPr>
            </a:pPr>
            <a:r>
              <a:t>What should the optimization recommend under different planning objectives?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612218"/>
            <a:ext cx="914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2580E0"/>
                </a:solidFill>
                <a:latin typeface="Aptos"/>
              </a:defRPr>
            </a:pPr>
            <a:r>
              <a:rPr dirty="0"/>
              <a:t>ANSWER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761488"/>
            <a:ext cx="470916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84674"/>
                </a:solidFill>
                <a:latin typeface="Aptos"/>
              </a:defRPr>
            </a:pPr>
            <a:r>
              <a:t>The model can allocate the full 3.07M meters, but no single scenario minimizes every resource requirement. Each objective changes processing hours, implied overtime and route distribution.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822191"/>
            <a:ext cx="470916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0">
                <a:solidFill>
                  <a:srgbClr val="283442"/>
                </a:solidFill>
                <a:latin typeface="Aptos"/>
              </a:defRPr>
            </a:pPr>
            <a:r>
              <a:t>Evidence</a:t>
            </a:r>
            <a:br/>
            <a:r>
              <a:t>• Min Processing: 1,252.59 h | 412.53 OT h</a:t>
            </a:r>
            <a:br/>
            <a:r>
              <a:t>• Min Overtime: 1,482.02 h | 159.48 OT h</a:t>
            </a:r>
            <a:br/>
            <a:r>
              <a:t>• Threshold Capacity: 1,385.33 h | 265.76 OT h</a:t>
            </a:r>
            <a:br/>
            <a:r>
              <a:t>• Scenario selection depends on the planning objective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5230368"/>
            <a:ext cx="47091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7B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01968" y="5330952"/>
            <a:ext cx="4407408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20" b="1">
                <a:solidFill>
                  <a:srgbClr val="184674"/>
                </a:solidFill>
                <a:latin typeface="Aptos"/>
              </a:defRPr>
            </a:pPr>
            <a:r>
              <a:t>Implication: management must explicitly choose which operational trade-off to prioritize.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0048"/>
    </mc:Choice>
    <mc:Fallback xmlns="">
      <p:transition spd="slow" advTm="90048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698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400" b="1">
                <a:solidFill>
                  <a:srgbClr val="184674"/>
                </a:solidFill>
                <a:latin typeface="Aptos"/>
              </a:defRPr>
            </a:pPr>
            <a:r>
              <a:t>Business Problem I: Original Planning View — Concentration Creates These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67512"/>
            <a:ext cx="106070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D7084"/>
                </a:solidFill>
                <a:latin typeface="Aptos"/>
              </a:defRPr>
            </a:pPr>
            <a:r>
              <a:t>Historical/original planning evidence | concentration is a planning exposure, not proof of an actual shortage.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11155680" cy="32004"/>
          </a:xfrm>
          <a:prstGeom prst="rect">
            <a:avLst/>
          </a:prstGeom>
          <a:solidFill>
            <a:srgbClr val="258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900" b="1">
                <a:solidFill>
                  <a:srgbClr val="5D708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56248"/>
            <a:ext cx="8229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5D7084"/>
                </a:solidFill>
                <a:latin typeface="Aptos"/>
              </a:defRPr>
            </a:pPr>
            <a:r>
              <a:t>Project #4 | Supply Chain Planning &amp; Operations Intelligence | Tina Vo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61872"/>
            <a:ext cx="10972800" cy="960120"/>
          </a:xfrm>
          <a:prstGeom prst="roundRect">
            <a:avLst/>
          </a:prstGeom>
          <a:solidFill>
            <a:srgbClr val="E7F3FC"/>
          </a:solidFill>
          <a:ln w="12700">
            <a:solidFill>
              <a:srgbClr val="ABC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399032"/>
            <a:ext cx="201168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 b="1">
                <a:solidFill>
                  <a:srgbClr val="184674"/>
                </a:solidFill>
                <a:latin typeface="Aptos"/>
              </a:defRPr>
            </a:pPr>
            <a:r>
              <a:t>~72%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371600"/>
            <a:ext cx="845820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283442"/>
                </a:solidFill>
                <a:latin typeface="Aptos"/>
              </a:defRPr>
            </a:pPr>
            <a:r>
              <a:t>of planned demand falls in P7–P8 (~2.22M of 3.07M m), creating a late-horizon workload concentration.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14600"/>
            <a:ext cx="251460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1" y="2660904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C93E4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2633472"/>
            <a:ext cx="17830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184674"/>
                </a:solidFill>
                <a:latin typeface="Aptos"/>
              </a:defRPr>
            </a:pPr>
            <a:r>
              <a:t>DEMAND PEAK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172968"/>
            <a:ext cx="2148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C93E42"/>
                </a:solidFill>
                <a:latin typeface="Aptos"/>
              </a:defRPr>
            </a:pPr>
            <a:r>
              <a:t>~2.22M m in P7–P8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721608"/>
            <a:ext cx="21488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20" b="0">
                <a:solidFill>
                  <a:srgbClr val="283442"/>
                </a:solidFill>
                <a:latin typeface="Aptos"/>
              </a:defRPr>
            </a:pPr>
            <a:r>
              <a:t>A large share of planned demand occurs in the final two demand periods, increasing late-horizon workload concentration.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2514600"/>
            <a:ext cx="251460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93592" y="2660904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DA8F1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95928" y="2633472"/>
            <a:ext cx="17830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184674"/>
                </a:solidFill>
                <a:latin typeface="Aptos"/>
              </a:defRPr>
            </a:pPr>
            <a:r>
              <a:t>CAPACITY TIMING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3172968"/>
            <a:ext cx="2148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DA8F1A"/>
                </a:solidFill>
                <a:latin typeface="Aptos"/>
              </a:defRPr>
            </a:pPr>
            <a:r>
              <a:t>Capacity must match timing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3721608"/>
            <a:ext cx="21488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20" b="0">
                <a:solidFill>
                  <a:srgbClr val="283442"/>
                </a:solidFill>
                <a:latin typeface="Aptos"/>
              </a:defRPr>
            </a:pPr>
            <a:r>
              <a:t>Total capacity is not enough by itself; required capacity must be available in the same periods when concentrated demand occurs.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2514600"/>
            <a:ext cx="251460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82512" y="2660904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2580E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84848" y="2633472"/>
            <a:ext cx="17830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184674"/>
                </a:solidFill>
                <a:latin typeface="Aptos"/>
              </a:defRPr>
            </a:pPr>
            <a:r>
              <a:t>ELIGIBLE-RESOURCE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172968"/>
            <a:ext cx="2148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2580E0"/>
                </a:solidFill>
                <a:latin typeface="Aptos"/>
              </a:defRPr>
            </a:pPr>
            <a:r>
              <a:t>Capacity may not be interchangeable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721608"/>
            <a:ext cx="21488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20" b="0">
                <a:solidFill>
                  <a:srgbClr val="283442"/>
                </a:solidFill>
                <a:latin typeface="Aptos"/>
              </a:defRPr>
            </a:pPr>
            <a:r>
              <a:t>Product-to-resource routing relationships mean unused capacity on another machine may not support every product requirement.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06840" y="2514600"/>
            <a:ext cx="251460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71432" y="2660904"/>
            <a:ext cx="411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368F5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73767" y="2633472"/>
            <a:ext cx="17830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1">
                <a:solidFill>
                  <a:srgbClr val="184674"/>
                </a:solidFill>
                <a:latin typeface="Aptos"/>
              </a:defRPr>
            </a:pPr>
            <a:r>
              <a:t>PLANNING RESILIENCE RISK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19" y="3172968"/>
            <a:ext cx="21488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368F5D"/>
                </a:solidFill>
                <a:latin typeface="Aptos"/>
              </a:defRPr>
            </a:pPr>
            <a:r>
              <a:t>Less room to absorb disruption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19" y="3721608"/>
            <a:ext cx="21488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20" b="0">
                <a:solidFill>
                  <a:srgbClr val="283442"/>
                </a:solidFill>
                <a:latin typeface="Aptos"/>
              </a:defRPr>
            </a:pPr>
            <a:r>
              <a:t>Concentrated demand can reduce flexibility if required capacity becomes constrained, routes are limited, or demand changes.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5230368"/>
            <a:ext cx="10652760" cy="777240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97B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87552" y="5321808"/>
            <a:ext cx="1019556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2580E0"/>
                </a:solidFill>
                <a:latin typeface="Aptos"/>
              </a:defRPr>
            </a:pPr>
            <a:r>
              <a:t>MANAGEMENT IMPLICATION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" y="5559552"/>
            <a:ext cx="10195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84674"/>
                </a:solidFill>
                <a:latin typeface="Aptos"/>
              </a:defRPr>
            </a:pPr>
            <a:r>
              <a:t>The original planning data identifies concentration exposure. The next step is to test whether that exposure becomes localized machine-period bottlenecks under modeled allocations.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280"/>
    </mc:Choice>
    <mc:Fallback xmlns="">
      <p:transition spd="slow" advTm="5228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19456"/>
            <a:ext cx="10652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300" b="1">
                <a:solidFill>
                  <a:srgbClr val="184674"/>
                </a:solidFill>
                <a:latin typeface="Aptos"/>
              </a:defRPr>
            </a:pPr>
            <a:r>
              <a:t>Capacity &amp; Bottlenecks: Aggregate Headroom Masks Local Constraints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94944"/>
            <a:ext cx="10515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D7084"/>
                </a:solidFill>
                <a:latin typeface="Aptos"/>
              </a:defRPr>
            </a:pPr>
            <a:r>
              <a:t>Threshold Capacity scenario | periods 3–8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11155680" cy="32004"/>
          </a:xfrm>
          <a:prstGeom prst="rect">
            <a:avLst/>
          </a:prstGeom>
          <a:solidFill>
            <a:srgbClr val="258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900" b="1">
                <a:solidFill>
                  <a:srgbClr val="5D708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243584"/>
            <a:ext cx="2039112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792" y="1243584"/>
            <a:ext cx="59436" cy="804672"/>
          </a:xfrm>
          <a:prstGeom prst="rect">
            <a:avLst/>
          </a:prstGeom>
          <a:solidFill>
            <a:srgbClr val="258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344168"/>
            <a:ext cx="166420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80" b="0">
                <a:solidFill>
                  <a:srgbClr val="5D7084"/>
                </a:solidFill>
                <a:latin typeface="Aptos"/>
              </a:defRPr>
            </a:pPr>
            <a:r>
              <a:t>PERMITTED UTILIZATION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600200"/>
            <a:ext cx="166420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84674"/>
                </a:solidFill>
                <a:latin typeface="Aptos"/>
              </a:defRPr>
            </a:pPr>
            <a:r>
              <a:t>62.31%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1243584"/>
            <a:ext cx="2039112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834640" y="1243584"/>
            <a:ext cx="59436" cy="804672"/>
          </a:xfrm>
          <a:prstGeom prst="rect">
            <a:avLst/>
          </a:prstGeom>
          <a:solidFill>
            <a:srgbClr val="258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44952" y="1344168"/>
            <a:ext cx="166420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80" b="0">
                <a:solidFill>
                  <a:srgbClr val="5D7084"/>
                </a:solidFill>
                <a:latin typeface="Aptos"/>
              </a:defRPr>
            </a:pPr>
            <a:r>
              <a:t>PROCESSING HOURS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4952" y="1600200"/>
            <a:ext cx="166420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84674"/>
                </a:solidFill>
                <a:latin typeface="Aptos"/>
              </a:defRPr>
            </a:pPr>
            <a:r>
              <a:t>1,385.33 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47488" y="1243584"/>
            <a:ext cx="2039112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47488" y="1243584"/>
            <a:ext cx="59436" cy="804672"/>
          </a:xfrm>
          <a:prstGeom prst="rect">
            <a:avLst/>
          </a:prstGeom>
          <a:solidFill>
            <a:srgbClr val="DA8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57800" y="1344168"/>
            <a:ext cx="166420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80" b="0">
                <a:solidFill>
                  <a:srgbClr val="5D7084"/>
                </a:solidFill>
                <a:latin typeface="Aptos"/>
              </a:defRPr>
            </a:pPr>
            <a:r>
              <a:t>IMPLIED OVERTIME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1600200"/>
            <a:ext cx="166420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84674"/>
                </a:solidFill>
                <a:latin typeface="Aptos"/>
              </a:defRPr>
            </a:pPr>
            <a:r>
              <a:t>265.76 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0336" y="1243584"/>
            <a:ext cx="2039112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260336" y="1243584"/>
            <a:ext cx="59436" cy="804672"/>
          </a:xfrm>
          <a:prstGeom prst="rect">
            <a:avLst/>
          </a:prstGeom>
          <a:solidFill>
            <a:srgbClr val="C93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70648" y="1344168"/>
            <a:ext cx="166420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80" b="0">
                <a:solidFill>
                  <a:srgbClr val="5D7084"/>
                </a:solidFill>
                <a:latin typeface="Aptos"/>
              </a:defRPr>
            </a:pPr>
            <a:r>
              <a:t>100% MACHINE-PERIODS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0648" y="1600200"/>
            <a:ext cx="166420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84674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73184" y="1243584"/>
            <a:ext cx="2039112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473184" y="1243584"/>
            <a:ext cx="59436" cy="804672"/>
          </a:xfrm>
          <a:prstGeom prst="rect">
            <a:avLst/>
          </a:prstGeom>
          <a:solidFill>
            <a:srgbClr val="368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83496" y="1344168"/>
            <a:ext cx="166420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80" b="0">
                <a:solidFill>
                  <a:srgbClr val="5D7084"/>
                </a:solidFill>
                <a:latin typeface="Aptos"/>
              </a:defRPr>
            </a:pPr>
            <a:r>
              <a:t>REMAINING CAPACITY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83496" y="1600200"/>
            <a:ext cx="1664208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84674"/>
                </a:solidFill>
                <a:latin typeface="Aptos"/>
              </a:defRPr>
            </a:pPr>
            <a:r>
              <a:t>838.06 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2260128"/>
            <a:ext cx="461772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84674"/>
                </a:solidFill>
                <a:latin typeface="Aptos"/>
              </a:defRPr>
            </a:pPr>
            <a:r>
              <a:rPr dirty="0"/>
              <a:t>1  EVIDENCE — WHAT THE ANALYSIS PROVES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2624328"/>
            <a:ext cx="2423160" cy="1124712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6384" y="2743200"/>
            <a:ext cx="71323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C93E42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36192" y="2724912"/>
            <a:ext cx="135331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80" b="1">
                <a:solidFill>
                  <a:srgbClr val="184674"/>
                </a:solidFill>
                <a:latin typeface="Aptos"/>
              </a:defRPr>
            </a:pPr>
            <a:r>
              <a:t>Localized saturation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36192" y="2999232"/>
            <a:ext cx="135331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0" b="0">
                <a:solidFill>
                  <a:srgbClr val="283442"/>
                </a:solidFill>
                <a:latin typeface="Aptos"/>
              </a:defRPr>
            </a:pPr>
            <a:r>
              <a:t>machine-period combinations reach 100% modeled utilization.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46120" y="2624328"/>
            <a:ext cx="2423160" cy="1124712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392424" y="2743200"/>
            <a:ext cx="71323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C93E42"/>
                </a:solidFill>
                <a:latin typeface="Aptos"/>
              </a:defRPr>
            </a:pPr>
            <a:r>
              <a:t>921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42231" y="2724912"/>
            <a:ext cx="135331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80" b="1">
                <a:solidFill>
                  <a:srgbClr val="184674"/>
                </a:solidFill>
                <a:latin typeface="Aptos"/>
              </a:defRPr>
            </a:pPr>
            <a:r>
              <a:t>Persistent constraint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42231" y="2999232"/>
            <a:ext cx="135331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0" b="0">
                <a:solidFill>
                  <a:srgbClr val="283442"/>
                </a:solidFill>
                <a:latin typeface="Aptos"/>
              </a:defRPr>
            </a:pPr>
            <a:r>
              <a:t>is modeled at 100% utilization across every active demand period P3–P8.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52160" y="2624328"/>
            <a:ext cx="2423160" cy="1124712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998464" y="2743200"/>
            <a:ext cx="71323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DA8F1A"/>
                </a:solidFill>
                <a:latin typeface="Aptos"/>
              </a:defRPr>
            </a:pPr>
            <a:r>
              <a:t>62.31%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48272" y="2724912"/>
            <a:ext cx="135331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80" b="1">
                <a:solidFill>
                  <a:srgbClr val="184674"/>
                </a:solidFill>
                <a:latin typeface="Aptos"/>
              </a:defRPr>
            </a:pPr>
            <a:r>
              <a:t>Uneven pressure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48272" y="2999232"/>
            <a:ext cx="135331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0" b="0">
                <a:solidFill>
                  <a:srgbClr val="283442"/>
                </a:solidFill>
                <a:latin typeface="Aptos"/>
              </a:defRPr>
            </a:pPr>
            <a:r>
              <a:t>aggregate utilization coexists with Machine 925 at 95.70% and Machine 926 at 89.53%.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458200" y="2624328"/>
            <a:ext cx="2423160" cy="1124712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604504" y="2743200"/>
            <a:ext cx="713232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368F5D"/>
                </a:solidFill>
                <a:latin typeface="Aptos"/>
              </a:defRPr>
            </a:pPr>
            <a:r>
              <a:t>838.06 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54312" y="2724912"/>
            <a:ext cx="135331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80" b="1">
                <a:solidFill>
                  <a:srgbClr val="184674"/>
                </a:solidFill>
                <a:latin typeface="Aptos"/>
              </a:defRPr>
            </a:pPr>
            <a:r>
              <a:t>Headroom ≠ access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54312" y="3095244"/>
            <a:ext cx="135331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0" b="0">
                <a:solidFill>
                  <a:srgbClr val="283442"/>
                </a:solidFill>
                <a:latin typeface="Aptos"/>
              </a:defRPr>
            </a:pPr>
            <a:r>
              <a:rPr dirty="0"/>
              <a:t>remaining aggregate capacity does not mean every machine-period has usable headroom.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3906048"/>
            <a:ext cx="644652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84674"/>
                </a:solidFill>
                <a:latin typeface="Aptos"/>
              </a:defRPr>
            </a:pPr>
            <a:r>
              <a:rPr dirty="0"/>
              <a:t>2  POTENTIAL BUSINESS RISKS — WHY MANAGEMENT SHOULD CARE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4270248"/>
            <a:ext cx="2514600" cy="1161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40080" y="4270248"/>
            <a:ext cx="2514600" cy="64008"/>
          </a:xfrm>
          <a:prstGeom prst="rect">
            <a:avLst/>
          </a:prstGeom>
          <a:solidFill>
            <a:srgbClr val="C93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04671" y="4416552"/>
            <a:ext cx="21762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80" b="1">
                <a:solidFill>
                  <a:srgbClr val="184674"/>
                </a:solidFill>
                <a:latin typeface="Aptos"/>
              </a:defRPr>
            </a:pPr>
            <a:r>
              <a:t>Bottleneck Dependency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4671" y="4736592"/>
            <a:ext cx="217627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69" b="0">
                <a:solidFill>
                  <a:srgbClr val="283442"/>
                </a:solidFill>
                <a:latin typeface="Aptos"/>
              </a:defRPr>
            </a:pPr>
            <a:r>
              <a:rPr dirty="0"/>
              <a:t>High reliance on saturated resources increases sensitivity to capacity loss or disruption.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383280" y="4270248"/>
            <a:ext cx="2514600" cy="1161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3383280" y="4270248"/>
            <a:ext cx="2514600" cy="64008"/>
          </a:xfrm>
          <a:prstGeom prst="rect">
            <a:avLst/>
          </a:prstGeom>
          <a:solidFill>
            <a:srgbClr val="DA8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547872" y="4416552"/>
            <a:ext cx="21762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80" b="1">
                <a:solidFill>
                  <a:srgbClr val="184674"/>
                </a:solidFill>
                <a:latin typeface="Aptos"/>
              </a:defRPr>
            </a:pPr>
            <a:r>
              <a:t>Overtime Exposure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47872" y="4736592"/>
            <a:ext cx="217627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69" b="0">
                <a:solidFill>
                  <a:srgbClr val="283442"/>
                </a:solidFill>
                <a:latin typeface="Aptos"/>
              </a:defRPr>
            </a:pPr>
            <a:r>
              <a:t>265.76 modeled implied OT hours indicate dependence on capacity-management actions.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26480" y="4270248"/>
            <a:ext cx="2514600" cy="1161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6126480" y="4270248"/>
            <a:ext cx="2514600" cy="64008"/>
          </a:xfrm>
          <a:prstGeom prst="rect">
            <a:avLst/>
          </a:prstGeom>
          <a:solidFill>
            <a:srgbClr val="DA8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291072" y="4416552"/>
            <a:ext cx="21762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80" b="1">
                <a:solidFill>
                  <a:srgbClr val="184674"/>
                </a:solidFill>
                <a:latin typeface="Aptos"/>
              </a:defRPr>
            </a:pPr>
            <a:r>
              <a:t>Schedule &amp; Fulfillment Exposure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91072" y="4736592"/>
            <a:ext cx="217627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69" b="0">
                <a:solidFill>
                  <a:srgbClr val="283442"/>
                </a:solidFill>
                <a:latin typeface="Aptos"/>
              </a:defRPr>
            </a:pPr>
            <a:r>
              <a:t>Loss of an eligible constrained resource may require replanning and could put planned timing at risk.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869680" y="4270248"/>
            <a:ext cx="2514600" cy="1161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8869680" y="4270248"/>
            <a:ext cx="2514600" cy="64008"/>
          </a:xfrm>
          <a:prstGeom prst="rect">
            <a:avLst/>
          </a:prstGeom>
          <a:solidFill>
            <a:srgbClr val="258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034272" y="4416552"/>
            <a:ext cx="217627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80" b="1">
                <a:solidFill>
                  <a:srgbClr val="184674"/>
                </a:solidFill>
                <a:latin typeface="Aptos"/>
              </a:defRPr>
            </a:pPr>
            <a:r>
              <a:t>Stranded-Capacity Risk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34272" y="4736592"/>
            <a:ext cx="217627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69" b="0">
                <a:solidFill>
                  <a:srgbClr val="283442"/>
                </a:solidFill>
                <a:latin typeface="Aptos"/>
              </a:defRPr>
            </a:pPr>
            <a:r>
              <a:rPr dirty="0"/>
              <a:t>Unused hours elsewhere may provide limited relief when routing eligibility restricts workload movement.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13232" y="5559552"/>
            <a:ext cx="10744200" cy="493776"/>
          </a:xfrm>
          <a:prstGeom prst="roundRect">
            <a:avLst/>
          </a:prstGeom>
          <a:solidFill>
            <a:srgbClr val="E7F3FC"/>
          </a:solidFill>
          <a:ln w="12700">
            <a:solidFill>
              <a:srgbClr val="ABC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68680" y="5641848"/>
            <a:ext cx="104241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70" b="1">
                <a:solidFill>
                  <a:srgbClr val="184674"/>
                </a:solidFill>
                <a:latin typeface="Aptos"/>
              </a:defRPr>
            </a:pPr>
            <a:r>
              <a:t>Localized constraint  →  Reduced scheduling flexibility  →  Greater replanning / overtime dependency  →  Potential cost &amp; delivery exposure  →  Lower operational resilience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" y="6126480"/>
            <a:ext cx="1069848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80" b="0">
                <a:solidFill>
                  <a:srgbClr val="5D7084"/>
                </a:solidFill>
                <a:latin typeface="Aptos"/>
              </a:defRPr>
            </a:pPr>
            <a:r>
              <a:t>Evidence boundary: the model identifies planning exposure and modeled capacity constraints; it does not demonstrate that actual downtime, delivery delays or incremental costs occurred.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4360" y="6556248"/>
            <a:ext cx="8229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5D7084"/>
                </a:solidFill>
                <a:latin typeface="Aptos"/>
              </a:defRPr>
            </a:pPr>
            <a:r>
              <a:t>Project #4 | Supply Chain Planning &amp; Operations Intelligence | Tina Vo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9950"/>
    </mc:Choice>
    <mc:Fallback xmlns="">
      <p:transition spd="slow" advTm="9995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652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300" b="1">
                <a:solidFill>
                  <a:srgbClr val="184674"/>
                </a:solidFill>
                <a:latin typeface="Aptos"/>
              </a:defRPr>
            </a:pPr>
            <a:r>
              <a:t>Demand &amp; Allocation: Full Modeled Fulfillment Does Not Eliminate Concentration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94944"/>
            <a:ext cx="105156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D7084"/>
                </a:solidFill>
                <a:latin typeface="Aptos"/>
              </a:defRPr>
            </a:pPr>
            <a:r>
              <a:t>Threshold Capacity scenario | translate allocation concentration into management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11155680" cy="32004"/>
          </a:xfrm>
          <a:prstGeom prst="rect">
            <a:avLst/>
          </a:prstGeom>
          <a:solidFill>
            <a:srgbClr val="258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900" b="1">
                <a:solidFill>
                  <a:srgbClr val="5D7084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61872"/>
            <a:ext cx="25146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261872"/>
            <a:ext cx="64008" cy="822960"/>
          </a:xfrm>
          <a:prstGeom prst="rect">
            <a:avLst/>
          </a:prstGeom>
          <a:solidFill>
            <a:srgbClr val="258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371600"/>
            <a:ext cx="20116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5D7084"/>
                </a:solidFill>
                <a:latin typeface="Aptos"/>
              </a:defRPr>
            </a:pPr>
            <a:r>
              <a:t>PLANNED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627632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184674"/>
                </a:solidFill>
                <a:latin typeface="Aptos"/>
              </a:defRPr>
            </a:pPr>
            <a:r>
              <a:t>3,071,692 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261872"/>
            <a:ext cx="25146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37560" y="1261872"/>
            <a:ext cx="64008" cy="822960"/>
          </a:xfrm>
          <a:prstGeom prst="rect">
            <a:avLst/>
          </a:prstGeom>
          <a:solidFill>
            <a:srgbClr val="258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84448" y="1371600"/>
            <a:ext cx="20116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5D7084"/>
                </a:solidFill>
                <a:latin typeface="Aptos"/>
              </a:defRPr>
            </a:pPr>
            <a:r>
              <a:t>ALLOCATED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1627632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184674"/>
                </a:solidFill>
                <a:latin typeface="Aptos"/>
              </a:defRPr>
            </a:pPr>
            <a:r>
              <a:t>3,071,692 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261872"/>
            <a:ext cx="25146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35040" y="1261872"/>
            <a:ext cx="64008" cy="822960"/>
          </a:xfrm>
          <a:prstGeom prst="rect">
            <a:avLst/>
          </a:prstGeom>
          <a:solidFill>
            <a:srgbClr val="368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81927" y="1371600"/>
            <a:ext cx="20116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5D7084"/>
                </a:solidFill>
                <a:latin typeface="Aptos"/>
              </a:defRPr>
            </a:pPr>
            <a:r>
              <a:t>FULFILLMENT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1927" y="1627632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184674"/>
                </a:solidFill>
                <a:latin typeface="Aptos"/>
              </a:defRPr>
            </a:pPr>
            <a:r>
              <a:t>100.00%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1261872"/>
            <a:ext cx="25146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732520" y="1261872"/>
            <a:ext cx="64008" cy="822960"/>
          </a:xfrm>
          <a:prstGeom prst="rect">
            <a:avLst/>
          </a:prstGeom>
          <a:solidFill>
            <a:srgbClr val="258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79408" y="1371600"/>
            <a:ext cx="20116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50" b="0">
                <a:solidFill>
                  <a:srgbClr val="5D7084"/>
                </a:solidFill>
                <a:latin typeface="Aptos"/>
              </a:defRPr>
            </a:pPr>
            <a:r>
              <a:t>ACTIVE ALLOCATIONS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9408" y="1627632"/>
            <a:ext cx="20116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184674"/>
                </a:solidFill>
                <a:latin typeface="Aptos"/>
              </a:defRPr>
            </a:pPr>
            <a:r>
              <a:t>260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2331720"/>
            <a:ext cx="10881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184674"/>
                </a:solidFill>
                <a:latin typeface="Aptos"/>
              </a:defRPr>
            </a:pPr>
            <a:r>
              <a:t>How Allocation Concentration Can Affect the Business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2761488"/>
            <a:ext cx="21488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2880360"/>
            <a:ext cx="34747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1">
                <a:solidFill>
                  <a:srgbClr val="C93E4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2871216"/>
            <a:ext cx="1554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20" b="1">
                <a:solidFill>
                  <a:srgbClr val="184674"/>
                </a:solidFill>
                <a:latin typeface="Aptos"/>
              </a:defRPr>
            </a:pPr>
            <a:r>
              <a:t>Operational Dependency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1" y="3383280"/>
            <a:ext cx="1819656" cy="1362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70" b="0">
                <a:solidFill>
                  <a:srgbClr val="283442"/>
                </a:solidFill>
                <a:latin typeface="Aptos"/>
              </a:defRPr>
            </a:pPr>
            <a:r>
              <a:t>Machine 921 receives ~1.081M m (35.2%) of modeled demand. Heavy reliance on one resource can reduce flexibility if it becomes constrained.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80360" y="2761488"/>
            <a:ext cx="21488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017520" y="2880360"/>
            <a:ext cx="34747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1">
                <a:solidFill>
                  <a:srgbClr val="C93E4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55848" y="2871216"/>
            <a:ext cx="1554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20" b="1">
                <a:solidFill>
                  <a:srgbClr val="184674"/>
                </a:solidFill>
                <a:latin typeface="Aptos"/>
              </a:defRPr>
            </a:pPr>
            <a:r>
              <a:t>Bottleneck Exposure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44952" y="3383280"/>
            <a:ext cx="1819656" cy="1362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70" b="0">
                <a:solidFill>
                  <a:srgbClr val="283442"/>
                </a:solidFill>
                <a:latin typeface="Aptos"/>
              </a:defRPr>
            </a:pPr>
            <a:r>
              <a:t>Concentrated allocation to highly utilized resources can amplify localized pressure; Machine 921 is modeled at 100% across P3–P8.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20640" y="2761488"/>
            <a:ext cx="21488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57800" y="2880360"/>
            <a:ext cx="34747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1">
                <a:solidFill>
                  <a:srgbClr val="DA8F1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96127" y="2871216"/>
            <a:ext cx="1554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20" b="1">
                <a:solidFill>
                  <a:srgbClr val="184674"/>
                </a:solidFill>
                <a:latin typeface="Aptos"/>
              </a:defRPr>
            </a:pPr>
            <a:r>
              <a:t>Schedule &amp; Service Risk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85231" y="3383280"/>
            <a:ext cx="1819656" cy="1362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70" b="0">
                <a:solidFill>
                  <a:srgbClr val="283442"/>
                </a:solidFill>
                <a:latin typeface="Aptos"/>
              </a:defRPr>
            </a:pPr>
            <a:r>
              <a:rPr dirty="0"/>
              <a:t>If a heavily used eligible resource loses capacity, more extensive reallocation may be required and planned timing could be exposed.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60920" y="2761488"/>
            <a:ext cx="21488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498080" y="2880360"/>
            <a:ext cx="34747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1">
                <a:solidFill>
                  <a:srgbClr val="DA8F1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36408" y="2871216"/>
            <a:ext cx="15544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20" b="1">
                <a:solidFill>
                  <a:srgbClr val="184674"/>
                </a:solidFill>
                <a:latin typeface="Aptos"/>
              </a:defRPr>
            </a:pPr>
            <a:r>
              <a:t>Overtime &amp; Cost Exposure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3383280"/>
            <a:ext cx="1819656" cy="1362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70" b="0">
                <a:solidFill>
                  <a:srgbClr val="283442"/>
                </a:solidFill>
                <a:latin typeface="Aptos"/>
              </a:defRPr>
            </a:pPr>
            <a:r>
              <a:t>Threshold Capacity requires 265.76 implied OT hours. Concentrated workload can increase reliance on capacity-management actions.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601200" y="2761488"/>
            <a:ext cx="19659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738360" y="2880360"/>
            <a:ext cx="34747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1">
                <a:solidFill>
                  <a:srgbClr val="2580E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76688" y="2871216"/>
            <a:ext cx="13716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20" b="1">
                <a:solidFill>
                  <a:srgbClr val="184674"/>
                </a:solidFill>
                <a:latin typeface="Aptos"/>
              </a:defRPr>
            </a:pPr>
            <a:r>
              <a:t>Planning Resilience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5792" y="3383280"/>
            <a:ext cx="1636776" cy="1362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70" b="0">
                <a:solidFill>
                  <a:srgbClr val="283442"/>
                </a:solidFill>
                <a:latin typeface="Aptos"/>
              </a:defRPr>
            </a:pPr>
            <a:r>
              <a:t>Unused capacity elsewhere may not substitute when eligibility limits alternative routes. Spare capacity can coexist with local constraints.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" y="5120640"/>
            <a:ext cx="10652760" cy="384048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41832" y="5175504"/>
            <a:ext cx="10287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5D7084"/>
                </a:solidFill>
                <a:latin typeface="Aptos"/>
              </a:defRPr>
            </a:pPr>
            <a:r>
              <a:t>Evidence boundary: these are modeled planning exposures—not evidence that actual production delays, downtime or service failures occurred.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" y="5641848"/>
            <a:ext cx="10652760" cy="621792"/>
          </a:xfrm>
          <a:prstGeom prst="roundRect">
            <a:avLst/>
          </a:prstGeom>
          <a:solidFill>
            <a:srgbClr val="E7F3FC"/>
          </a:solidFill>
          <a:ln w="12700">
            <a:solidFill>
              <a:srgbClr val="ABC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60120" y="5715000"/>
            <a:ext cx="10287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50" b="1">
                <a:solidFill>
                  <a:srgbClr val="184674"/>
                </a:solidFill>
                <a:latin typeface="Aptos"/>
              </a:defRPr>
            </a:pPr>
            <a:r>
              <a:rPr dirty="0"/>
              <a:t>MANAGEMENT INSIGHT  |  100% modeled fulfillment is necessary, but resilience also depends on where workload is concentrated, whether alternative eligible routes exist, and how much flexibility remains if constrained resources become unavailable.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4360" y="6556248"/>
            <a:ext cx="8229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5D7084"/>
                </a:solidFill>
                <a:latin typeface="Aptos"/>
              </a:defRPr>
            </a:pPr>
            <a:r>
              <a:t>Project #4 | Supply Chain Planning &amp; Operations Intelligence | Tina Vo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3037"/>
    </mc:Choice>
    <mc:Fallback xmlns="">
      <p:transition spd="slow" advTm="63037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19456"/>
            <a:ext cx="106984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300" b="1">
                <a:solidFill>
                  <a:srgbClr val="184674"/>
                </a:solidFill>
                <a:latin typeface="Aptos"/>
              </a:defRPr>
            </a:pPr>
            <a:r>
              <a:t>Scenario Analysis: Different Objectives Produce Different 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85800"/>
            <a:ext cx="10607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D7084"/>
                </a:solidFill>
                <a:latin typeface="Aptos"/>
              </a:defRPr>
            </a:pPr>
            <a:r>
              <a:t>All scenarios fulfill the same modeled demand; the decision changes how capacity is used.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11155680" cy="32004"/>
          </a:xfrm>
          <a:prstGeom prst="rect">
            <a:avLst/>
          </a:prstGeom>
          <a:solidFill>
            <a:srgbClr val="258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900" b="1">
                <a:solidFill>
                  <a:srgbClr val="5D7084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61872"/>
            <a:ext cx="3840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84674"/>
                </a:solidFill>
                <a:latin typeface="Aptos"/>
              </a:defRPr>
            </a:pPr>
            <a:r>
              <a:t>SCENARIO DECISION LENS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7632"/>
            <a:ext cx="324612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627632"/>
            <a:ext cx="3246120" cy="73152"/>
          </a:xfrm>
          <a:prstGeom prst="rect">
            <a:avLst/>
          </a:prstGeom>
          <a:solidFill>
            <a:srgbClr val="258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764792"/>
            <a:ext cx="2880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50" b="1">
                <a:solidFill>
                  <a:srgbClr val="184674"/>
                </a:solidFill>
                <a:latin typeface="Aptos"/>
              </a:defRPr>
            </a:pPr>
            <a:r>
              <a:t>MIN PROCESSING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103120"/>
            <a:ext cx="13258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0">
                <a:solidFill>
                  <a:srgbClr val="5D7084"/>
                </a:solidFill>
                <a:latin typeface="Aptos"/>
              </a:defRPr>
            </a:pPr>
            <a:r>
              <a:t>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39" y="2103120"/>
            <a:ext cx="13258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0">
                <a:solidFill>
                  <a:srgbClr val="5D7084"/>
                </a:solidFill>
                <a:latin typeface="Aptos"/>
              </a:defRPr>
            </a:pPr>
            <a:r>
              <a:t>IMPLIED 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2313432"/>
            <a:ext cx="1325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84674"/>
                </a:solidFill>
                <a:latin typeface="Aptos"/>
              </a:defRPr>
            </a:pPr>
            <a:r>
              <a:t>1,252.59 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39" y="2313432"/>
            <a:ext cx="1325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84674"/>
                </a:solidFill>
                <a:latin typeface="Aptos"/>
              </a:defRPr>
            </a:pPr>
            <a:r>
              <a:t>412.53 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2670048"/>
            <a:ext cx="283464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60" b="0">
                <a:solidFill>
                  <a:srgbClr val="283442"/>
                </a:solidFill>
                <a:latin typeface="Aptos"/>
              </a:defRPr>
            </a:pPr>
            <a:r>
              <a:t>Lowest processing requirement; highest implied OT.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2926080"/>
            <a:ext cx="283464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40" b="1">
                <a:solidFill>
                  <a:srgbClr val="2580E0"/>
                </a:solidFill>
                <a:latin typeface="Aptos"/>
              </a:defRPr>
            </a:pPr>
            <a:r>
              <a:t>Business effect: less processing effort, but greater dependence on overtime capacity.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60520" y="1627632"/>
            <a:ext cx="324612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60520" y="1627632"/>
            <a:ext cx="3246120" cy="73152"/>
          </a:xfrm>
          <a:prstGeom prst="rect">
            <a:avLst/>
          </a:prstGeom>
          <a:solidFill>
            <a:srgbClr val="368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43400" y="1764792"/>
            <a:ext cx="2880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50" b="1">
                <a:solidFill>
                  <a:srgbClr val="184674"/>
                </a:solidFill>
                <a:latin typeface="Aptos"/>
              </a:defRPr>
            </a:pPr>
            <a:r>
              <a:t>MIN OVERTIME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5112" y="2103120"/>
            <a:ext cx="13258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0">
                <a:solidFill>
                  <a:srgbClr val="5D7084"/>
                </a:solidFill>
                <a:latin typeface="Aptos"/>
              </a:defRPr>
            </a:pPr>
            <a:r>
              <a:t>PROCESSING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79" y="2103120"/>
            <a:ext cx="13258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0">
                <a:solidFill>
                  <a:srgbClr val="5D7084"/>
                </a:solidFill>
                <a:latin typeface="Aptos"/>
              </a:defRPr>
            </a:pPr>
            <a:r>
              <a:t>IMPLIED 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5112" y="2313432"/>
            <a:ext cx="1325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84674"/>
                </a:solidFill>
                <a:latin typeface="Aptos"/>
              </a:defRPr>
            </a:pPr>
            <a:r>
              <a:t>1,482.02 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79" y="2313432"/>
            <a:ext cx="1325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84674"/>
                </a:solidFill>
                <a:latin typeface="Aptos"/>
              </a:defRPr>
            </a:pPr>
            <a:r>
              <a:t>159.48 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61688" y="2670048"/>
            <a:ext cx="283464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60" b="0">
                <a:solidFill>
                  <a:srgbClr val="283442"/>
                </a:solidFill>
                <a:latin typeface="Aptos"/>
              </a:defRPr>
            </a:pPr>
            <a:r>
              <a:t>Lowest implied OT; highest processing requirement; 270 active allocations.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61688" y="2926080"/>
            <a:ext cx="283464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40" b="1">
                <a:solidFill>
                  <a:srgbClr val="368F5D"/>
                </a:solidFill>
                <a:latin typeface="Aptos"/>
              </a:defRPr>
            </a:pPr>
            <a:r>
              <a:t>Business effect: lower OT dependency, but more processing effort and routing coordination.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80960" y="1627632"/>
            <a:ext cx="3246120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680960" y="1627632"/>
            <a:ext cx="3246120" cy="73152"/>
          </a:xfrm>
          <a:prstGeom prst="rect">
            <a:avLst/>
          </a:prstGeom>
          <a:solidFill>
            <a:srgbClr val="DA8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63840" y="1764792"/>
            <a:ext cx="2880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50" b="1">
                <a:solidFill>
                  <a:srgbClr val="184674"/>
                </a:solidFill>
                <a:latin typeface="Aptos"/>
              </a:defRPr>
            </a:pPr>
            <a:r>
              <a:t>THRESHOLD CAPACITY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45552" y="2103120"/>
            <a:ext cx="13258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0">
                <a:solidFill>
                  <a:srgbClr val="5D7084"/>
                </a:solidFill>
                <a:latin typeface="Aptos"/>
              </a:defRPr>
            </a:pPr>
            <a:r>
              <a:t>PROCESSING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2103120"/>
            <a:ext cx="132588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50" b="0">
                <a:solidFill>
                  <a:srgbClr val="5D7084"/>
                </a:solidFill>
                <a:latin typeface="Aptos"/>
              </a:defRPr>
            </a:pPr>
            <a:r>
              <a:t>IMPLIED 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45552" y="2313432"/>
            <a:ext cx="1325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84674"/>
                </a:solidFill>
                <a:latin typeface="Aptos"/>
              </a:defRPr>
            </a:pPr>
            <a:r>
              <a:t>1,385.33 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2313432"/>
            <a:ext cx="1325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84674"/>
                </a:solidFill>
                <a:latin typeface="Aptos"/>
              </a:defRPr>
            </a:pPr>
            <a:r>
              <a:t>265.76 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82128" y="2670048"/>
            <a:ext cx="283464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60" b="0">
                <a:solidFill>
                  <a:srgbClr val="283442"/>
                </a:solidFill>
                <a:latin typeface="Aptos"/>
              </a:defRPr>
            </a:pPr>
            <a:r>
              <a:t>Tests a tighter permitted overtime-capacity envelope.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82128" y="2926080"/>
            <a:ext cx="2834640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40" b="1">
                <a:solidFill>
                  <a:srgbClr val="DA8F1A"/>
                </a:solidFill>
                <a:latin typeface="Aptos"/>
              </a:defRPr>
            </a:pPr>
            <a:r>
              <a:t>Business effect: middle operating profile, but localized bottlenecks still require monitoring.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79" y="3476280"/>
            <a:ext cx="6005269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84674"/>
                </a:solidFill>
                <a:latin typeface="Aptos"/>
              </a:defRPr>
            </a:pPr>
            <a:r>
              <a:rPr dirty="0"/>
              <a:t>DIFFERENT OBJECTIVES → DIFFERENT BUSINESS TRADE-OFFS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3858768"/>
            <a:ext cx="3246120" cy="1207008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04671" y="3986784"/>
            <a:ext cx="290779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30" b="1">
                <a:solidFill>
                  <a:srgbClr val="184674"/>
                </a:solidFill>
                <a:latin typeface="Aptos"/>
              </a:defRPr>
            </a:pPr>
            <a:r>
              <a:t>Processing Efficiency Priority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1" y="4297680"/>
            <a:ext cx="290779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30" b="1">
                <a:solidFill>
                  <a:srgbClr val="2580E0"/>
                </a:solidFill>
                <a:latin typeface="Aptos"/>
              </a:defRPr>
            </a:pPr>
            <a:r>
              <a:t>Lower processing hours  →  Higher implied OT dependency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59" y="4617720"/>
            <a:ext cx="28803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0">
                <a:solidFill>
                  <a:srgbClr val="283442"/>
                </a:solidFill>
                <a:latin typeface="Aptos"/>
              </a:defRPr>
            </a:pPr>
            <a:r>
              <a:t>Business consideration: overtime availability, capacity flexibility and potential cost exposure.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60520" y="3858768"/>
            <a:ext cx="3246120" cy="1207008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25112" y="3986784"/>
            <a:ext cx="290779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30" b="1">
                <a:solidFill>
                  <a:srgbClr val="184674"/>
                </a:solidFill>
                <a:latin typeface="Aptos"/>
              </a:defRPr>
            </a:pPr>
            <a:r>
              <a:t>Overtime Reduction Priority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25112" y="4297680"/>
            <a:ext cx="290779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30" b="1">
                <a:solidFill>
                  <a:srgbClr val="368F5D"/>
                </a:solidFill>
                <a:latin typeface="Aptos"/>
              </a:defRPr>
            </a:pPr>
            <a:r>
              <a:t>Lower implied OT  →  More processing hours + more active allocations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43400" y="4617720"/>
            <a:ext cx="28803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0">
                <a:solidFill>
                  <a:srgbClr val="283442"/>
                </a:solidFill>
                <a:latin typeface="Aptos"/>
              </a:defRPr>
            </a:pPr>
            <a:r>
              <a:t>Business consideration: routing complexity, coordination effort and resource distribution.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80960" y="3858768"/>
            <a:ext cx="3246120" cy="1207008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845552" y="3986784"/>
            <a:ext cx="2907792" cy="2468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30" b="1">
                <a:solidFill>
                  <a:srgbClr val="184674"/>
                </a:solidFill>
                <a:latin typeface="Aptos"/>
              </a:defRPr>
            </a:pPr>
            <a:r>
              <a:t>Capacity-Control Priority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45552" y="4297680"/>
            <a:ext cx="2907792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30" b="1">
                <a:solidFill>
                  <a:srgbClr val="DA8F1A"/>
                </a:solidFill>
                <a:latin typeface="Aptos"/>
              </a:defRPr>
            </a:pPr>
            <a:r>
              <a:t>Tighter permitted OT envelope  →  Intermediate processing / OT profile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63840" y="4617720"/>
            <a:ext cx="288036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0">
                <a:solidFill>
                  <a:srgbClr val="283442"/>
                </a:solidFill>
                <a:latin typeface="Aptos"/>
              </a:defRPr>
            </a:pPr>
            <a:r>
              <a:t>Business consideration: localized bottlenecks and resilience of constrained resources.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7240" y="5266944"/>
            <a:ext cx="10652760" cy="4206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7B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60120" y="5330952"/>
            <a:ext cx="10287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70" b="1">
                <a:solidFill>
                  <a:srgbClr val="184674"/>
                </a:solidFill>
                <a:latin typeface="Aptos"/>
              </a:defRPr>
            </a:pPr>
            <a:r>
              <a:t>The optimization does not eliminate trade-offs — it makes them visible so management can choose which operational pressure to accept.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77240" y="5806440"/>
            <a:ext cx="10652760" cy="530352"/>
          </a:xfrm>
          <a:prstGeom prst="roundRect">
            <a:avLst/>
          </a:prstGeom>
          <a:solidFill>
            <a:srgbClr val="E7F3FC"/>
          </a:solidFill>
          <a:ln w="12700">
            <a:solidFill>
              <a:srgbClr val="ABC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60120" y="5879592"/>
            <a:ext cx="10287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40" b="1">
                <a:solidFill>
                  <a:srgbClr val="184674"/>
                </a:solidFill>
                <a:latin typeface="Aptos"/>
              </a:defRPr>
            </a:pPr>
            <a:r>
              <a:t>DECISION PRINCIPLE  |  Scenario selection depends on management objective; the model does not establish a universally “best” scenario.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6556248"/>
            <a:ext cx="8229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5D7084"/>
                </a:solidFill>
                <a:latin typeface="Aptos"/>
              </a:defRPr>
            </a:pPr>
            <a:r>
              <a:t>Project #4 | Supply Chain Planning &amp; Operations Intelligence | Tina Vo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263"/>
    </mc:Choice>
    <mc:Fallback xmlns="">
      <p:transition spd="slow" advTm="100263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19456"/>
            <a:ext cx="106984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50" b="1">
                <a:solidFill>
                  <a:srgbClr val="184674"/>
                </a:solidFill>
                <a:latin typeface="Aptos"/>
              </a:defRPr>
            </a:pPr>
            <a:r>
              <a:t>Recommended Planning Strategy: Match the Scenario to the Business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85800"/>
            <a:ext cx="106070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5D7084"/>
                </a:solidFill>
                <a:latin typeface="Aptos"/>
              </a:defRPr>
            </a:pPr>
            <a:r>
              <a:t>Use a dynamic decision framework rather than declaring one universally “best” scenario.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11155680" cy="32004"/>
          </a:xfrm>
          <a:prstGeom prst="rect">
            <a:avLst/>
          </a:prstGeom>
          <a:solidFill>
            <a:srgbClr val="258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256032"/>
            <a:ext cx="32004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900" b="1">
                <a:solidFill>
                  <a:srgbClr val="5D7084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61872"/>
            <a:ext cx="10881360" cy="658368"/>
          </a:xfrm>
          <a:prstGeom prst="roundRect">
            <a:avLst/>
          </a:prstGeom>
          <a:solidFill>
            <a:srgbClr val="E7F3FC"/>
          </a:solidFill>
          <a:ln w="12700">
            <a:solidFill>
              <a:srgbClr val="ABC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362456"/>
            <a:ext cx="1040587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20" b="1">
                <a:solidFill>
                  <a:srgbClr val="184674"/>
                </a:solidFill>
                <a:latin typeface="Aptos"/>
              </a:defRPr>
            </a:pPr>
            <a:r>
              <a:t>Recommendation: use Threshold Capacity as the balanced reference lens for routine monitoring, then switch objectives when the business priority explicitly changes.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148840"/>
            <a:ext cx="32461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2148840"/>
            <a:ext cx="3246120" cy="73152"/>
          </a:xfrm>
          <a:prstGeom prst="rect">
            <a:avLst/>
          </a:prstGeom>
          <a:solidFill>
            <a:srgbClr val="258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2304288"/>
            <a:ext cx="2880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69" b="1">
                <a:solidFill>
                  <a:srgbClr val="5D7084"/>
                </a:solidFill>
                <a:latin typeface="Aptos"/>
              </a:defRPr>
            </a:pPr>
            <a:r>
              <a:t>PROCESSING EFFICIENCY PRIORITY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624328"/>
            <a:ext cx="28803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84674"/>
                </a:solidFill>
                <a:latin typeface="Aptos"/>
              </a:defRPr>
            </a:pPr>
            <a:r>
              <a:t>MIN 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035808"/>
            <a:ext cx="28803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50" b="1">
                <a:solidFill>
                  <a:srgbClr val="2580E0"/>
                </a:solidFill>
                <a:latin typeface="Aptos"/>
              </a:defRPr>
            </a:pPr>
            <a:r>
              <a:t>1,252.59 h processing</a:t>
            </a:r>
            <a:br/>
            <a:r>
              <a:t>412.53 h implied 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685032"/>
            <a:ext cx="27889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30" b="0">
                <a:solidFill>
                  <a:srgbClr val="283442"/>
                </a:solidFill>
                <a:latin typeface="Aptos"/>
              </a:defRPr>
            </a:pPr>
            <a:r>
              <a:t>Use when reducing modeled processing effort is the dominant objective — while accepting greater overtime dependency.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2148840"/>
            <a:ext cx="32461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160520" y="2148840"/>
            <a:ext cx="3246120" cy="73152"/>
          </a:xfrm>
          <a:prstGeom prst="rect">
            <a:avLst/>
          </a:prstGeom>
          <a:solidFill>
            <a:srgbClr val="DA8F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43400" y="2304288"/>
            <a:ext cx="2880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69" b="1">
                <a:solidFill>
                  <a:srgbClr val="5D7084"/>
                </a:solidFill>
                <a:latin typeface="Aptos"/>
              </a:defRPr>
            </a:pPr>
            <a:r>
              <a:t>BALANCED CAPACITY-CONTROL PRIORITY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624328"/>
            <a:ext cx="28803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84674"/>
                </a:solidFill>
                <a:latin typeface="Aptos"/>
              </a:defRPr>
            </a:pPr>
            <a:r>
              <a:t>THRESHOLD CAPACITY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035808"/>
            <a:ext cx="28803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50" b="1">
                <a:solidFill>
                  <a:srgbClr val="DA8F1A"/>
                </a:solidFill>
                <a:latin typeface="Aptos"/>
              </a:defRPr>
            </a:pPr>
            <a:r>
              <a:t>1,385.33 h processing</a:t>
            </a:r>
            <a:br/>
            <a:r>
              <a:t>265.76 h implied 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685032"/>
            <a:ext cx="27889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30" b="0">
                <a:solidFill>
                  <a:srgbClr val="283442"/>
                </a:solidFill>
                <a:latin typeface="Aptos"/>
              </a:defRPr>
            </a:pPr>
            <a:r>
              <a:t>Use as the reference planning lens when management wants tighter permitted capacity control while balancing processing and overtime.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62672" y="2148840"/>
            <a:ext cx="32461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662672" y="2148840"/>
            <a:ext cx="3246120" cy="73152"/>
          </a:xfrm>
          <a:prstGeom prst="rect">
            <a:avLst/>
          </a:prstGeom>
          <a:solidFill>
            <a:srgbClr val="368F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45552" y="2304288"/>
            <a:ext cx="28803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69" b="1">
                <a:solidFill>
                  <a:srgbClr val="5D7084"/>
                </a:solidFill>
                <a:latin typeface="Aptos"/>
              </a:defRPr>
            </a:pPr>
            <a:r>
              <a:t>OVERTIME REDUCTION PRIORITY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45552" y="2624328"/>
            <a:ext cx="288036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84674"/>
                </a:solidFill>
                <a:latin typeface="Aptos"/>
              </a:defRPr>
            </a:pPr>
            <a:r>
              <a:t>MIN OVERTIME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45552" y="3035808"/>
            <a:ext cx="28803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50" b="1">
                <a:solidFill>
                  <a:srgbClr val="368F5D"/>
                </a:solidFill>
                <a:latin typeface="Aptos"/>
              </a:defRPr>
            </a:pPr>
            <a:r>
              <a:t>1,482.02 h processing</a:t>
            </a:r>
            <a:br/>
            <a:r>
              <a:t>159.48 h implied 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1272" y="3685032"/>
            <a:ext cx="27889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30" b="0">
                <a:solidFill>
                  <a:srgbClr val="283442"/>
                </a:solidFill>
                <a:latin typeface="Aptos"/>
              </a:defRPr>
            </a:pPr>
            <a:r>
              <a:t>Use when reducing overtime dependency is the dominant objective — while accepting more processing effort and routing activity.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540831"/>
            <a:ext cx="5774330" cy="30008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50" b="1">
                <a:solidFill>
                  <a:srgbClr val="184674"/>
                </a:solidFill>
                <a:latin typeface="Aptos"/>
              </a:defRPr>
            </a:pPr>
            <a:r>
              <a:rPr dirty="0"/>
              <a:t>DECISION TRIGGERS — WHEN SHOULD MANAGEMENT SWITCH?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910328"/>
            <a:ext cx="3246120" cy="804672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59" y="5010912"/>
            <a:ext cx="22402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0">
                <a:solidFill>
                  <a:srgbClr val="283442"/>
                </a:solidFill>
                <a:latin typeface="Aptos"/>
              </a:defRPr>
            </a:pPr>
            <a:r>
              <a:t>If processing efficiency becomes the dominant constraint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54096" y="5010912"/>
            <a:ext cx="65836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80" b="1">
                <a:solidFill>
                  <a:srgbClr val="2580E0"/>
                </a:solidFill>
                <a:latin typeface="Aptos"/>
              </a:defRPr>
            </a:pPr>
            <a:r>
              <a:t>→  Min Processing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60520" y="4910328"/>
            <a:ext cx="3246120" cy="804672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325112" y="5010912"/>
            <a:ext cx="22402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0">
                <a:solidFill>
                  <a:srgbClr val="283442"/>
                </a:solidFill>
                <a:latin typeface="Aptos"/>
              </a:defRPr>
            </a:pPr>
            <a:r>
              <a:t>If balanced capacity control is the current planning need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56248" y="5010912"/>
            <a:ext cx="65836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80" b="1">
                <a:solidFill>
                  <a:srgbClr val="DA8F1A"/>
                </a:solidFill>
                <a:latin typeface="Aptos"/>
              </a:defRPr>
            </a:pPr>
            <a:r>
              <a:t>→  Threshold Capacity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62672" y="4910328"/>
            <a:ext cx="3246120" cy="804672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27264" y="5010912"/>
            <a:ext cx="224028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0">
                <a:solidFill>
                  <a:srgbClr val="283442"/>
                </a:solidFill>
                <a:latin typeface="Aptos"/>
              </a:defRPr>
            </a:pPr>
            <a:r>
              <a:t>If overtime availability or dependency becomes the dominant concern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5010912"/>
            <a:ext cx="658368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80" b="1">
                <a:solidFill>
                  <a:srgbClr val="368F5D"/>
                </a:solidFill>
                <a:latin typeface="Aptos"/>
              </a:defRPr>
            </a:pPr>
            <a:r>
              <a:t>→  Min Overtime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5870448"/>
            <a:ext cx="1065276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7B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41832" y="5934456"/>
            <a:ext cx="103327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80" b="1">
                <a:solidFill>
                  <a:srgbClr val="184674"/>
                </a:solidFill>
                <a:latin typeface="Aptos"/>
              </a:defRPr>
            </a:pPr>
            <a:r>
              <a:t>MANAGEMENT PRINCIPLE  |  The optimization supports scenario selection; it does not establish a universally superior plan. Monitor demand, machine-period utilization, implied overtime and allocation concentration as priorities change.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556248"/>
            <a:ext cx="8229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5D7084"/>
                </a:solidFill>
                <a:latin typeface="Aptos"/>
              </a:defRPr>
            </a:pPr>
            <a:r>
              <a:t>Project #4 | Supply Chain Planning &amp; Operations Intelligence | Tina Vo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3278"/>
    </mc:Choice>
    <mc:Fallback xmlns="">
      <p:transition spd="slow" advTm="83278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01168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50" b="1">
                <a:solidFill>
                  <a:srgbClr val="184674"/>
                </a:solidFill>
                <a:latin typeface="Aptos"/>
              </a:defRPr>
            </a:pPr>
            <a:r>
              <a:t>Business Risks, Root-Cause Hypotheses &amp; Diagnostic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85800"/>
            <a:ext cx="1060704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80" b="0">
                <a:solidFill>
                  <a:srgbClr val="5D7084"/>
                </a:solidFill>
                <a:latin typeface="Aptos"/>
              </a:defRPr>
            </a:pPr>
            <a:r>
              <a:t>Move from observed planning evidence to testable explanations — without treating hypotheses as facts.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11155680" cy="32004"/>
          </a:xfrm>
          <a:prstGeom prst="rect">
            <a:avLst/>
          </a:prstGeom>
          <a:solidFill>
            <a:srgbClr val="258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65992" y="246888"/>
            <a:ext cx="34747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5D7084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43584"/>
            <a:ext cx="43891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50" b="1">
                <a:solidFill>
                  <a:srgbClr val="184674"/>
                </a:solidFill>
                <a:latin typeface="Aptos"/>
              </a:defRPr>
            </a:pPr>
            <a:r>
              <a:t>EVIDENCE ESTABLISHED IN SLIDES 3–8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27632"/>
            <a:ext cx="4709160" cy="621792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709928"/>
            <a:ext cx="169164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60" b="1">
                <a:solidFill>
                  <a:srgbClr val="2580E0"/>
                </a:solidFill>
                <a:latin typeface="Aptos"/>
              </a:defRPr>
            </a:pPr>
            <a:r>
              <a:t>Demand concentration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682496"/>
            <a:ext cx="2670048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10" b="0">
                <a:solidFill>
                  <a:srgbClr val="283442"/>
                </a:solidFill>
                <a:latin typeface="Aptos"/>
              </a:defRPr>
            </a:pPr>
            <a:r>
              <a:t>~72% of planned demand occurs in P7–P8.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377440"/>
            <a:ext cx="4709160" cy="621792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2459736"/>
            <a:ext cx="169164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60" b="1">
                <a:solidFill>
                  <a:srgbClr val="C93E42"/>
                </a:solidFill>
                <a:latin typeface="Aptos"/>
              </a:defRPr>
            </a:pPr>
            <a:r>
              <a:t>Localized saturation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432304"/>
            <a:ext cx="2670048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10" b="0">
                <a:solidFill>
                  <a:srgbClr val="283442"/>
                </a:solidFill>
                <a:latin typeface="Aptos"/>
              </a:defRPr>
            </a:pPr>
            <a:r>
              <a:t>14 threshold machine-period combinations reach 100%.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127248"/>
            <a:ext cx="4709160" cy="621792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" y="3209544"/>
            <a:ext cx="169164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60" b="1">
                <a:solidFill>
                  <a:srgbClr val="DA8F1A"/>
                </a:solidFill>
                <a:latin typeface="Aptos"/>
              </a:defRPr>
            </a:pPr>
            <a:r>
              <a:t>Persistent resource pressure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3182112"/>
            <a:ext cx="2670048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10" b="0">
                <a:solidFill>
                  <a:srgbClr val="283442"/>
                </a:solidFill>
                <a:latin typeface="Aptos"/>
              </a:defRPr>
            </a:pPr>
            <a:r>
              <a:t>Machine 921 is modeled at 100% across P3–P8.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877056"/>
            <a:ext cx="4709160" cy="621792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1248" y="3959352"/>
            <a:ext cx="1691640" cy="2103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60" b="1">
                <a:solidFill>
                  <a:srgbClr val="368F5D"/>
                </a:solidFill>
                <a:latin typeface="Aptos"/>
              </a:defRPr>
            </a:pPr>
            <a:r>
              <a:t>Scenario sensitivity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3931920"/>
            <a:ext cx="2670048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10" b="0">
                <a:solidFill>
                  <a:srgbClr val="283442"/>
                </a:solidFill>
                <a:latin typeface="Aptos"/>
              </a:defRPr>
            </a:pPr>
            <a:r>
              <a:t>Processing and implied overtime change materially by objective.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23560" y="1243584"/>
            <a:ext cx="3474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50" b="1">
                <a:solidFill>
                  <a:srgbClr val="184674"/>
                </a:solidFill>
                <a:latin typeface="Aptos"/>
              </a:defRPr>
            </a:pPr>
            <a:r>
              <a:rPr dirty="0"/>
              <a:t>ROOT-CAUSE HYPOTHESES TO TEST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23560" y="1627632"/>
            <a:ext cx="58978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815584" y="1719072"/>
            <a:ext cx="1874519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1">
                <a:solidFill>
                  <a:srgbClr val="184674"/>
                </a:solidFill>
                <a:latin typeface="Aptos"/>
              </a:defRPr>
            </a:pPr>
            <a:r>
              <a:t>H1  Route concentration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71231" y="1700784"/>
            <a:ext cx="373075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80" b="0">
                <a:solidFill>
                  <a:srgbClr val="283442"/>
                </a:solidFill>
                <a:latin typeface="Aptos"/>
              </a:defRPr>
            </a:pPr>
            <a:r>
              <a:rPr dirty="0"/>
              <a:t>Eligible routing may limit how much workload can shift away from saturated resources.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23560" y="2468880"/>
            <a:ext cx="58978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815584" y="2560320"/>
            <a:ext cx="1874519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1">
                <a:solidFill>
                  <a:srgbClr val="184674"/>
                </a:solidFill>
                <a:latin typeface="Aptos"/>
              </a:defRPr>
            </a:pPr>
            <a:r>
              <a:t>H2  Timing mismatch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71231" y="2542032"/>
            <a:ext cx="373075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80" b="0">
                <a:solidFill>
                  <a:srgbClr val="283442"/>
                </a:solidFill>
                <a:latin typeface="Aptos"/>
              </a:defRPr>
            </a:pPr>
            <a:r>
              <a:t>Capacity may exist in aggregate but not on the required resource in the required period.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23560" y="3310128"/>
            <a:ext cx="589788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815584" y="3401568"/>
            <a:ext cx="1874519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1">
                <a:solidFill>
                  <a:srgbClr val="184674"/>
                </a:solidFill>
                <a:latin typeface="Aptos"/>
              </a:defRPr>
            </a:pPr>
            <a:r>
              <a:t>H3  Objective-driven concentration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71231" y="3383280"/>
            <a:ext cx="3730752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80" b="0">
                <a:solidFill>
                  <a:srgbClr val="283442"/>
                </a:solidFill>
                <a:latin typeface="Aptos"/>
              </a:defRPr>
            </a:pPr>
            <a:r>
              <a:t>The optimizer may concentrate work differently depending on the selected objective.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23560" y="4224528"/>
            <a:ext cx="32918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50" b="1">
                <a:solidFill>
                  <a:srgbClr val="184674"/>
                </a:solidFill>
                <a:latin typeface="Aptos"/>
              </a:defRPr>
            </a:pPr>
            <a:r>
              <a:t>DIAGNOSTIC TESTS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23560" y="4572000"/>
            <a:ext cx="5897880" cy="347472"/>
          </a:xfrm>
          <a:prstGeom prst="roundRect">
            <a:avLst/>
          </a:prstGeom>
          <a:solidFill>
            <a:srgbClr val="E7F3FC"/>
          </a:solidFill>
          <a:ln w="12700">
            <a:solidFill>
              <a:srgbClr val="B9D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806440" y="4599432"/>
            <a:ext cx="5532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0">
                <a:solidFill>
                  <a:srgbClr val="184674"/>
                </a:solidFill>
                <a:latin typeface="Aptos"/>
              </a:defRPr>
            </a:pPr>
            <a:r>
              <a:t>Eligibility analysis → identify products with few alternative routes.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23560" y="5010912"/>
            <a:ext cx="5897880" cy="347472"/>
          </a:xfrm>
          <a:prstGeom prst="roundRect">
            <a:avLst/>
          </a:prstGeom>
          <a:solidFill>
            <a:srgbClr val="E7F3FC"/>
          </a:solidFill>
          <a:ln w="12700">
            <a:solidFill>
              <a:srgbClr val="B9D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806440" y="5038344"/>
            <a:ext cx="5532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0">
                <a:solidFill>
                  <a:srgbClr val="184674"/>
                </a:solidFill>
                <a:latin typeface="Aptos"/>
              </a:defRPr>
            </a:pPr>
            <a:r>
              <a:t>Capacity-loss sensitivity → reduce/remove 921, 925 or 926 capacity and re-optimize.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23560" y="5449824"/>
            <a:ext cx="5897880" cy="347472"/>
          </a:xfrm>
          <a:prstGeom prst="roundRect">
            <a:avLst/>
          </a:prstGeom>
          <a:solidFill>
            <a:srgbClr val="E7F3FC"/>
          </a:solidFill>
          <a:ln w="12700">
            <a:solidFill>
              <a:srgbClr val="B9D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806440" y="5477256"/>
            <a:ext cx="5532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0">
                <a:solidFill>
                  <a:srgbClr val="184674"/>
                </a:solidFill>
                <a:latin typeface="Aptos"/>
              </a:defRPr>
            </a:pPr>
            <a:r>
              <a:t>Scenario comparison → track how utilization, OT and active allocations shift by objective.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9808" y="5971032"/>
            <a:ext cx="1065276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7B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32688" y="6025896"/>
            <a:ext cx="102870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10" b="1">
                <a:solidFill>
                  <a:srgbClr val="184674"/>
                </a:solidFill>
                <a:latin typeface="Aptos"/>
              </a:defRPr>
            </a:pPr>
            <a:r>
              <a:rPr dirty="0"/>
              <a:t>Management rule: treat the model as evidence of planning exposure; validate the cause before prescribing the corrective action.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547104"/>
            <a:ext cx="8229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5D7084"/>
                </a:solidFill>
                <a:latin typeface="Aptos"/>
              </a:defRPr>
            </a:pPr>
            <a:r>
              <a:t>Project #4 | Supply Chain Planning &amp; Operations Intelligence | Tina Vo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113"/>
    </mc:Choice>
    <mc:Fallback xmlns="">
      <p:transition spd="slow" advTm="64113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01168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50" b="1">
                <a:solidFill>
                  <a:srgbClr val="184674"/>
                </a:solidFill>
                <a:latin typeface="Aptos"/>
              </a:defRPr>
            </a:pPr>
            <a:r>
              <a:t>SWOT: Final Planning Decision-Support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85800"/>
            <a:ext cx="1060704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80" b="0">
                <a:solidFill>
                  <a:srgbClr val="5D7084"/>
                </a:solidFill>
                <a:latin typeface="Aptos"/>
              </a:defRPr>
            </a:pPr>
            <a:r>
              <a:t>Assess the analytical solution after incorporating the scenario-selection and capacity-risk findings.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11155680" cy="32004"/>
          </a:xfrm>
          <a:prstGeom prst="rect">
            <a:avLst/>
          </a:prstGeom>
          <a:solidFill>
            <a:srgbClr val="258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65992" y="246888"/>
            <a:ext cx="34747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5D7084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89888"/>
            <a:ext cx="5257800" cy="1938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508760"/>
            <a:ext cx="48920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1">
                <a:solidFill>
                  <a:srgbClr val="368F5D"/>
                </a:solidFill>
                <a:latin typeface="Aptos"/>
              </a:defRPr>
            </a:pPr>
            <a:r>
              <a:t>STRENGTHS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74519"/>
            <a:ext cx="480060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0">
                <a:solidFill>
                  <a:srgbClr val="283442"/>
                </a:solidFill>
                <a:latin typeface="Aptos"/>
              </a:defRPr>
            </a:pPr>
            <a:r>
              <a:t>• Governed Gold + scenario data model connects demand, capacity and routing.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12848"/>
            <a:ext cx="480060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0">
                <a:solidFill>
                  <a:srgbClr val="283442"/>
                </a:solidFill>
                <a:latin typeface="Aptos"/>
              </a:defRPr>
            </a:pPr>
            <a:r>
              <a:t>• Full modeled demand allocation across all three optimization objectives.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51176"/>
            <a:ext cx="480060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0">
                <a:solidFill>
                  <a:srgbClr val="283442"/>
                </a:solidFill>
                <a:latin typeface="Aptos"/>
              </a:defRPr>
            </a:pPr>
            <a:r>
              <a:t>• Localized bottleneck visibility exposes constraints hidden by aggregate utilization.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889504"/>
            <a:ext cx="480060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0">
                <a:solidFill>
                  <a:srgbClr val="283442"/>
                </a:solidFill>
                <a:latin typeface="Aptos"/>
              </a:defRPr>
            </a:pPr>
            <a:r>
              <a:t>• Scenario framework makes processing / overtime trade-offs explicit.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1389888"/>
            <a:ext cx="5257800" cy="1938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55664" y="1508760"/>
            <a:ext cx="48920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1">
                <a:solidFill>
                  <a:srgbClr val="DA8F1A"/>
                </a:solidFill>
                <a:latin typeface="Aptos"/>
              </a:defRPr>
            </a:pPr>
            <a:r>
              <a:t>WEAKNESSES / LIMITATIONS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1384" y="1874519"/>
            <a:ext cx="480060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0">
                <a:solidFill>
                  <a:srgbClr val="283442"/>
                </a:solidFill>
                <a:latin typeface="Aptos"/>
              </a:defRPr>
            </a:pPr>
            <a:r>
              <a:t>• Allocations are theoretical planning outputs, not actual production execution.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1384" y="2212848"/>
            <a:ext cx="480060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0">
                <a:solidFill>
                  <a:srgbClr val="283442"/>
                </a:solidFill>
                <a:latin typeface="Aptos"/>
              </a:defRPr>
            </a:pPr>
            <a:r>
              <a:t>• No actual downtime, schedule adherence or service-level outcomes are modeled.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551176"/>
            <a:ext cx="480060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0">
                <a:solidFill>
                  <a:srgbClr val="283442"/>
                </a:solidFill>
                <a:latin typeface="Aptos"/>
              </a:defRPr>
            </a:pPr>
            <a:r>
              <a:t>• No explicit financial cost objective for overtime, delay or route changes.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2889504"/>
            <a:ext cx="480060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0">
                <a:solidFill>
                  <a:srgbClr val="283442"/>
                </a:solidFill>
                <a:latin typeface="Aptos"/>
              </a:defRPr>
            </a:pPr>
            <a:r>
              <a:t>• Scenario results depend on source capacity and eligibility assumptions.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675887"/>
            <a:ext cx="5257800" cy="1938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7" y="3794759"/>
            <a:ext cx="48920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1">
                <a:solidFill>
                  <a:srgbClr val="2580E0"/>
                </a:solidFill>
                <a:latin typeface="Aptos"/>
              </a:defRPr>
            </a:pPr>
            <a:r>
              <a:t>OPPORTUNITIES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160520"/>
            <a:ext cx="480060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0">
                <a:solidFill>
                  <a:srgbClr val="283442"/>
                </a:solidFill>
                <a:latin typeface="Aptos"/>
              </a:defRPr>
            </a:pPr>
            <a:r>
              <a:t>• Add actual-vs-plan data to validate modeled constraints and improve learning.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498848"/>
            <a:ext cx="480060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0">
                <a:solidFill>
                  <a:srgbClr val="283442"/>
                </a:solidFill>
                <a:latin typeface="Aptos"/>
              </a:defRPr>
            </a:pPr>
            <a:r>
              <a:t>• Extend sensitivity testing for machine loss, demand changes and route flexibility.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4837176"/>
            <a:ext cx="480060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0">
                <a:solidFill>
                  <a:srgbClr val="283442"/>
                </a:solidFill>
                <a:latin typeface="Aptos"/>
              </a:defRPr>
            </a:pPr>
            <a:r>
              <a:t>• Add cost-to-serve / overtime economics to support financial trade-off analysis.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5175504"/>
            <a:ext cx="480060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0">
                <a:solidFill>
                  <a:srgbClr val="283442"/>
                </a:solidFill>
                <a:latin typeface="Aptos"/>
              </a:defRPr>
            </a:pPr>
            <a:r>
              <a:t>• Create exception alerts for high-utilization machine-period combinations.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72784" y="3675887"/>
            <a:ext cx="5257800" cy="1938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55664" y="3794759"/>
            <a:ext cx="48920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50" b="1">
                <a:solidFill>
                  <a:srgbClr val="C93E42"/>
                </a:solidFill>
                <a:latin typeface="Aptos"/>
              </a:defRPr>
            </a:pPr>
            <a:r>
              <a:t>RISKS / THREATS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01384" y="4160520"/>
            <a:ext cx="480060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0">
                <a:solidFill>
                  <a:srgbClr val="283442"/>
                </a:solidFill>
                <a:latin typeface="Aptos"/>
              </a:defRPr>
            </a:pPr>
            <a:r>
              <a:t>• Demand concentration can reduce planning flexibility late in the horizon.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01384" y="4498848"/>
            <a:ext cx="480060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0">
                <a:solidFill>
                  <a:srgbClr val="283442"/>
                </a:solidFill>
                <a:latin typeface="Aptos"/>
              </a:defRPr>
            </a:pPr>
            <a:r>
              <a:t>• Heavy reliance on constrained eligible resources can increase replanning exposure.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1384" y="4837176"/>
            <a:ext cx="480060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0">
                <a:solidFill>
                  <a:srgbClr val="283442"/>
                </a:solidFill>
                <a:latin typeface="Aptos"/>
              </a:defRPr>
            </a:pPr>
            <a:r>
              <a:t>• Unused aggregate capacity may be stranded when routing alternatives are limited.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01384" y="5175504"/>
            <a:ext cx="480060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0">
                <a:solidFill>
                  <a:srgbClr val="283442"/>
                </a:solidFill>
                <a:latin typeface="Aptos"/>
              </a:defRPr>
            </a:pPr>
            <a:r>
              <a:t>• Treating modeled feasibility as execution certainty could overstate resilience.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5916168"/>
            <a:ext cx="10652760" cy="420624"/>
          </a:xfrm>
          <a:prstGeom prst="roundRect">
            <a:avLst/>
          </a:prstGeom>
          <a:solidFill>
            <a:srgbClr val="E7F3FC"/>
          </a:solidFill>
          <a:ln w="12700">
            <a:solidFill>
              <a:srgbClr val="ABC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0120" y="5980176"/>
            <a:ext cx="1028700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90" b="1">
                <a:solidFill>
                  <a:srgbClr val="184674"/>
                </a:solidFill>
                <a:latin typeface="Aptos"/>
              </a:defRPr>
            </a:pPr>
            <a:r>
              <a:t>SWOT conclusion: the solution is strongest as a planning decision-support system; execution validation and financial data are the next maturity steps.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47104"/>
            <a:ext cx="8229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5D7084"/>
                </a:solidFill>
                <a:latin typeface="Aptos"/>
              </a:defRPr>
            </a:pPr>
            <a:r>
              <a:t>Project #4 | Supply Chain Planning &amp; Operations Intelligence | Tina Vo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0594"/>
    </mc:Choice>
    <mc:Fallback xmlns="">
      <p:transition spd="slow" advTm="120594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01168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50" b="1">
                <a:solidFill>
                  <a:srgbClr val="184674"/>
                </a:solidFill>
                <a:latin typeface="Aptos"/>
              </a:defRPr>
            </a:pPr>
            <a:r>
              <a:t>Recommendations &amp; Corrective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85800"/>
            <a:ext cx="1060704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80" b="0">
                <a:solidFill>
                  <a:srgbClr val="5D7084"/>
                </a:solidFill>
                <a:latin typeface="Aptos"/>
              </a:defRPr>
            </a:pPr>
            <a:r>
              <a:t>Convert the planning evidence and scenario strategy into concrete management actions.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11155680" cy="32004"/>
          </a:xfrm>
          <a:prstGeom prst="rect">
            <a:avLst/>
          </a:prstGeom>
          <a:solidFill>
            <a:srgbClr val="258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65992" y="246888"/>
            <a:ext cx="34747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5D7084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108813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545336"/>
            <a:ext cx="566928" cy="566928"/>
          </a:xfrm>
          <a:prstGeom prst="roundRect">
            <a:avLst/>
          </a:prstGeom>
          <a:solidFill>
            <a:srgbClr val="C93E42"/>
          </a:solidFill>
          <a:ln w="12700">
            <a:solidFill>
              <a:srgbClr val="C93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54533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527048"/>
            <a:ext cx="2834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80" b="1">
                <a:solidFill>
                  <a:srgbClr val="184674"/>
                </a:solidFill>
                <a:latin typeface="Aptos"/>
              </a:defRPr>
            </a:pPr>
            <a:r>
              <a:t>Protect constrained machine-periods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0832" y="1490472"/>
            <a:ext cx="4069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90" b="0">
                <a:solidFill>
                  <a:srgbClr val="283442"/>
                </a:solidFill>
                <a:latin typeface="Aptos"/>
              </a:defRPr>
            </a:pPr>
            <a:r>
              <a:t>Set exception thresholds and review resources approaching modeled saturation before plan release.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1490472"/>
            <a:ext cx="276148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1">
                <a:solidFill>
                  <a:srgbClr val="C93E42"/>
                </a:solidFill>
                <a:latin typeface="Aptos"/>
              </a:defRPr>
            </a:pPr>
            <a:r>
              <a:t>Outcome: earlier visibility into localized capacity pressure.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514600"/>
            <a:ext cx="108813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22960" y="2642616"/>
            <a:ext cx="566928" cy="566928"/>
          </a:xfrm>
          <a:prstGeom prst="roundRect">
            <a:avLst/>
          </a:prstGeom>
          <a:solidFill>
            <a:srgbClr val="2580E0"/>
          </a:solidFill>
          <a:ln w="12700">
            <a:solidFill>
              <a:srgbClr val="258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264261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2624328"/>
            <a:ext cx="2834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80" b="1">
                <a:solidFill>
                  <a:srgbClr val="184674"/>
                </a:solidFill>
                <a:latin typeface="Aptos"/>
              </a:defRPr>
            </a:pPr>
            <a:r>
              <a:t>Strengthen routing resilience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0832" y="2587752"/>
            <a:ext cx="4069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90" b="0">
                <a:solidFill>
                  <a:srgbClr val="283442"/>
                </a:solidFill>
                <a:latin typeface="Aptos"/>
              </a:defRPr>
            </a:pPr>
            <a:r>
              <a:t>Test alternative eligible routes and machine-loss cases for workload concentrated on 921, 925 and 926.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587752"/>
            <a:ext cx="276148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1">
                <a:solidFill>
                  <a:srgbClr val="2580E0"/>
                </a:solidFill>
                <a:latin typeface="Aptos"/>
              </a:defRPr>
            </a:pPr>
            <a:r>
              <a:rPr dirty="0"/>
              <a:t>Outcome: clearer understanding of where spare capacity can actually substitute.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611880"/>
            <a:ext cx="108813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22960" y="3739896"/>
            <a:ext cx="566928" cy="566928"/>
          </a:xfrm>
          <a:prstGeom prst="roundRect">
            <a:avLst/>
          </a:prstGeom>
          <a:solidFill>
            <a:srgbClr val="DA8F1A"/>
          </a:solidFill>
          <a:ln w="12700">
            <a:solidFill>
              <a:srgbClr val="DA8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3739896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3721608"/>
            <a:ext cx="2834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80" b="1">
                <a:solidFill>
                  <a:srgbClr val="184674"/>
                </a:solidFill>
                <a:latin typeface="Aptos"/>
              </a:defRPr>
            </a:pPr>
            <a:r>
              <a:t>Operationalize dynamic scenario selection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0832" y="3685032"/>
            <a:ext cx="4069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90" b="0">
                <a:solidFill>
                  <a:srgbClr val="283442"/>
                </a:solidFill>
                <a:latin typeface="Aptos"/>
              </a:defRPr>
            </a:pPr>
            <a:r>
              <a:t>Use Threshold Capacity as the balanced reference lens; shift to Min Processing or Min Overtime when the business objective changes.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3685032"/>
            <a:ext cx="276148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1">
                <a:solidFill>
                  <a:srgbClr val="DA8F1A"/>
                </a:solidFill>
                <a:latin typeface="Aptos"/>
              </a:defRPr>
            </a:pPr>
            <a:r>
              <a:t>Outcome: optimization objective stays aligned with management priority.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709159"/>
            <a:ext cx="1088136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22960" y="4837175"/>
            <a:ext cx="566928" cy="566928"/>
          </a:xfrm>
          <a:prstGeom prst="roundRect">
            <a:avLst/>
          </a:prstGeom>
          <a:solidFill>
            <a:srgbClr val="368F5D"/>
          </a:solidFill>
          <a:ln w="12700">
            <a:solidFill>
              <a:srgbClr val="368F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4837175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72768" y="4818888"/>
            <a:ext cx="28346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80" b="1">
                <a:solidFill>
                  <a:srgbClr val="184674"/>
                </a:solidFill>
                <a:latin typeface="Aptos"/>
              </a:defRPr>
            </a:pPr>
            <a:r>
              <a:t>Close the plan-to-execution gap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0832" y="4782312"/>
            <a:ext cx="4069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90" b="0">
                <a:solidFill>
                  <a:srgbClr val="283442"/>
                </a:solidFill>
                <a:latin typeface="Aptos"/>
              </a:defRPr>
            </a:pPr>
            <a:r>
              <a:t>Add actual production, downtime, inventory and service outcomes before using modeled allocations as execution targets.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49640" y="4782312"/>
            <a:ext cx="276148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969" b="1">
                <a:solidFill>
                  <a:srgbClr val="368F5D"/>
                </a:solidFill>
                <a:latin typeface="Aptos"/>
              </a:defRPr>
            </a:pPr>
            <a:r>
              <a:t>Outcome: validate assumptions and create an actual-vs-plan learning loop.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5897880"/>
            <a:ext cx="10652760" cy="438912"/>
          </a:xfrm>
          <a:prstGeom prst="roundRect">
            <a:avLst/>
          </a:prstGeom>
          <a:solidFill>
            <a:srgbClr val="E7F3FC"/>
          </a:solidFill>
          <a:ln w="12700">
            <a:solidFill>
              <a:srgbClr val="ABC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0120" y="5961888"/>
            <a:ext cx="102870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20" b="1">
                <a:solidFill>
                  <a:srgbClr val="184674"/>
                </a:solidFill>
                <a:latin typeface="Aptos"/>
              </a:defRPr>
            </a:pPr>
            <a:r>
              <a:t>Action sequence: detect the constraint → test route resilience → select the planning objective → validate modeled results against execution.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47104"/>
            <a:ext cx="8229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5D7084"/>
                </a:solidFill>
                <a:latin typeface="Aptos"/>
              </a:defRPr>
            </a:pPr>
            <a:r>
              <a:t>Project #4 | Supply Chain Planning &amp; Operations Intelligence | Tina Vo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69"/>
    </mc:Choice>
    <mc:Fallback xmlns="">
      <p:transition spd="slow" advTm="50069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01168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50" b="1">
                <a:solidFill>
                  <a:srgbClr val="184674"/>
                </a:solidFill>
                <a:latin typeface="Aptos"/>
              </a:defRPr>
            </a:pPr>
            <a:r>
              <a:t>Expected Business Impact &amp; Decision-Support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85800"/>
            <a:ext cx="1060704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80" b="0">
                <a:solidFill>
                  <a:srgbClr val="5D7084"/>
                </a:solidFill>
                <a:latin typeface="Aptos"/>
              </a:defRPr>
            </a:pPr>
            <a:r>
              <a:t>The expected value is stronger planning decisions — not unverified claims of realized savings or service improvement.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11155680" cy="32004"/>
          </a:xfrm>
          <a:prstGeom prst="rect">
            <a:avLst/>
          </a:prstGeom>
          <a:solidFill>
            <a:srgbClr val="258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65992" y="246888"/>
            <a:ext cx="34747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5D7084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63040"/>
            <a:ext cx="2011680" cy="208483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298448" y="1627632"/>
            <a:ext cx="731520" cy="91440"/>
          </a:xfrm>
          <a:prstGeom prst="roundRect">
            <a:avLst/>
          </a:prstGeom>
          <a:solidFill>
            <a:srgbClr val="C93E42"/>
          </a:solidFill>
          <a:ln w="12700">
            <a:solidFill>
              <a:srgbClr val="C93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874519"/>
            <a:ext cx="17190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84674"/>
                </a:solidFill>
                <a:latin typeface="Aptos"/>
              </a:defRPr>
            </a:pPr>
            <a:r>
              <a:t>Earlier bottleneck visibility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468880"/>
            <a:ext cx="171907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30" b="0">
                <a:solidFill>
                  <a:srgbClr val="283442"/>
                </a:solidFill>
                <a:latin typeface="Aptos"/>
              </a:defRPr>
            </a:pPr>
            <a:r>
              <a:t>Localized utilization monitoring surfaces machine-period pressure before it is hidden by aggregate headroom.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71215" y="1463040"/>
            <a:ext cx="2011680" cy="208483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511296" y="1627632"/>
            <a:ext cx="731520" cy="91440"/>
          </a:xfrm>
          <a:prstGeom prst="roundRect">
            <a:avLst/>
          </a:prstGeom>
          <a:solidFill>
            <a:srgbClr val="2580E0"/>
          </a:solidFill>
          <a:ln w="12700">
            <a:solidFill>
              <a:srgbClr val="258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017520" y="1874519"/>
            <a:ext cx="17190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84674"/>
                </a:solidFill>
                <a:latin typeface="Aptos"/>
              </a:defRPr>
            </a:pPr>
            <a:r>
              <a:t>More resilient capacity planning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468880"/>
            <a:ext cx="171907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30" b="0">
                <a:solidFill>
                  <a:srgbClr val="283442"/>
                </a:solidFill>
                <a:latin typeface="Aptos"/>
              </a:defRPr>
            </a:pPr>
            <a:r>
              <a:t>Route and capacity-loss tests reveal where alternatives exist and where dependency remains high.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84064" y="1463040"/>
            <a:ext cx="2011680" cy="208483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724144" y="1627632"/>
            <a:ext cx="731520" cy="91440"/>
          </a:xfrm>
          <a:prstGeom prst="roundRect">
            <a:avLst/>
          </a:prstGeom>
          <a:solidFill>
            <a:srgbClr val="DA8F1A"/>
          </a:solidFill>
          <a:ln w="12700">
            <a:solidFill>
              <a:srgbClr val="DA8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30368" y="1874519"/>
            <a:ext cx="17190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84674"/>
                </a:solidFill>
                <a:latin typeface="Aptos"/>
              </a:defRPr>
            </a:pPr>
            <a:r>
              <a:t>More explicit trade-off decisions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0368" y="2468880"/>
            <a:ext cx="171907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30" b="0">
                <a:solidFill>
                  <a:srgbClr val="283442"/>
                </a:solidFill>
                <a:latin typeface="Aptos"/>
              </a:defRPr>
            </a:pPr>
            <a:r>
              <a:t>Scenario comparison shows what management accepts when prioritizing processing, overtime or tighter capacity control.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96912" y="1463040"/>
            <a:ext cx="2011680" cy="208483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936992" y="1627632"/>
            <a:ext cx="731520" cy="91440"/>
          </a:xfrm>
          <a:prstGeom prst="roundRect">
            <a:avLst/>
          </a:prstGeom>
          <a:solidFill>
            <a:srgbClr val="368F5D"/>
          </a:solidFill>
          <a:ln w="12700">
            <a:solidFill>
              <a:srgbClr val="368F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43215" y="1874519"/>
            <a:ext cx="17190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84674"/>
                </a:solidFill>
                <a:latin typeface="Aptos"/>
              </a:defRPr>
            </a:pPr>
            <a:r>
              <a:t>Faster management diagnostics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43215" y="2468880"/>
            <a:ext cx="171907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30" b="0">
                <a:solidFill>
                  <a:srgbClr val="283442"/>
                </a:solidFill>
                <a:latin typeface="Aptos"/>
              </a:defRPr>
            </a:pPr>
            <a:r>
              <a:t>A common evidence framework links demand, capacity, routing and scenario results for focused investigation.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09760" y="1463040"/>
            <a:ext cx="2011680" cy="208483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149840" y="1627632"/>
            <a:ext cx="731520" cy="91440"/>
          </a:xfrm>
          <a:prstGeom prst="roundRect">
            <a:avLst/>
          </a:prstGeom>
          <a:solidFill>
            <a:srgbClr val="184674"/>
          </a:solidFill>
          <a:ln w="12700">
            <a:solidFill>
              <a:srgbClr val="184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56064" y="1874519"/>
            <a:ext cx="171907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84674"/>
                </a:solidFill>
                <a:latin typeface="Aptos"/>
              </a:defRPr>
            </a:pPr>
            <a:r>
              <a:t>Continuous planning improvement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56064" y="2468880"/>
            <a:ext cx="1719072" cy="8412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30" b="0">
                <a:solidFill>
                  <a:srgbClr val="283442"/>
                </a:solidFill>
                <a:latin typeface="Aptos"/>
              </a:defRPr>
            </a:pPr>
            <a:r>
              <a:t>Actual-vs-plan integration can validate assumptions and refine future optimization decisions.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3840480"/>
            <a:ext cx="4754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50" b="1">
                <a:solidFill>
                  <a:srgbClr val="184674"/>
                </a:solidFill>
                <a:latin typeface="Aptos"/>
              </a:defRPr>
            </a:pPr>
            <a:r>
              <a:t>MANAGEMENT DECISION CYCLE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233672"/>
            <a:ext cx="2011680" cy="868680"/>
          </a:xfrm>
          <a:prstGeom prst="roundRect">
            <a:avLst/>
          </a:prstGeom>
          <a:solidFill>
            <a:srgbClr val="E7F3FC"/>
          </a:solidFill>
          <a:ln w="12700">
            <a:solidFill>
              <a:srgbClr val="B9D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8096" y="4343400"/>
            <a:ext cx="1792224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70" b="1">
                <a:solidFill>
                  <a:srgbClr val="2580E0"/>
                </a:solidFill>
                <a:latin typeface="Aptos"/>
              </a:defRPr>
            </a:pPr>
            <a:r>
              <a:t>MONITOR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" y="4645152"/>
            <a:ext cx="1792224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0">
                <a:solidFill>
                  <a:srgbClr val="184674"/>
                </a:solidFill>
                <a:latin typeface="Aptos"/>
              </a:defRPr>
            </a:pPr>
            <a:r>
              <a:t>Demand + utilization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70048" y="4434840"/>
            <a:ext cx="20116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5D708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71215" y="4233672"/>
            <a:ext cx="2011680" cy="868680"/>
          </a:xfrm>
          <a:prstGeom prst="roundRect">
            <a:avLst/>
          </a:prstGeom>
          <a:solidFill>
            <a:srgbClr val="E7F3FC"/>
          </a:solidFill>
          <a:ln w="12700">
            <a:solidFill>
              <a:srgbClr val="B9D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980944" y="4343400"/>
            <a:ext cx="1792224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70" b="1">
                <a:solidFill>
                  <a:srgbClr val="2580E0"/>
                </a:solidFill>
                <a:latin typeface="Aptos"/>
              </a:defRPr>
            </a:pPr>
            <a:r>
              <a:t>DIAGNOSE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80944" y="4645152"/>
            <a:ext cx="1792224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0">
                <a:solidFill>
                  <a:srgbClr val="184674"/>
                </a:solidFill>
                <a:latin typeface="Aptos"/>
              </a:defRPr>
            </a:pPr>
            <a:r>
              <a:t>Constraints + routes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82896" y="4434840"/>
            <a:ext cx="20116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5D708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84064" y="4233672"/>
            <a:ext cx="2011680" cy="868680"/>
          </a:xfrm>
          <a:prstGeom prst="roundRect">
            <a:avLst/>
          </a:prstGeom>
          <a:solidFill>
            <a:srgbClr val="E7F3FC"/>
          </a:solidFill>
          <a:ln w="12700">
            <a:solidFill>
              <a:srgbClr val="B9D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193792" y="4343400"/>
            <a:ext cx="1792224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70" b="1">
                <a:solidFill>
                  <a:srgbClr val="2580E0"/>
                </a:solidFill>
                <a:latin typeface="Aptos"/>
              </a:defRPr>
            </a:pPr>
            <a:r>
              <a:rPr dirty="0"/>
              <a:t>SIMULATE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93792" y="4645152"/>
            <a:ext cx="1792224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0">
                <a:solidFill>
                  <a:srgbClr val="184674"/>
                </a:solidFill>
                <a:latin typeface="Aptos"/>
              </a:defRPr>
            </a:pPr>
            <a:r>
              <a:t>Alternative objectives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95744" y="4434840"/>
            <a:ext cx="20116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5D708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96912" y="4233672"/>
            <a:ext cx="2011680" cy="868680"/>
          </a:xfrm>
          <a:prstGeom prst="roundRect">
            <a:avLst/>
          </a:prstGeom>
          <a:solidFill>
            <a:srgbClr val="E7F3FC"/>
          </a:solidFill>
          <a:ln w="12700">
            <a:solidFill>
              <a:srgbClr val="B9D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406640" y="4343400"/>
            <a:ext cx="1792224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70" b="1">
                <a:solidFill>
                  <a:srgbClr val="2580E0"/>
                </a:solidFill>
                <a:latin typeface="Aptos"/>
              </a:defRPr>
            </a:pPr>
            <a:r>
              <a:t>DECIDE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06640" y="4645152"/>
            <a:ext cx="1792224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0">
                <a:solidFill>
                  <a:srgbClr val="184674"/>
                </a:solidFill>
                <a:latin typeface="Aptos"/>
              </a:defRPr>
            </a:pPr>
            <a:r>
              <a:t>Scenario + actions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08592" y="4434840"/>
            <a:ext cx="20116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5D708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09760" y="4233672"/>
            <a:ext cx="2011680" cy="868680"/>
          </a:xfrm>
          <a:prstGeom prst="roundRect">
            <a:avLst/>
          </a:prstGeom>
          <a:solidFill>
            <a:srgbClr val="E7F3FC"/>
          </a:solidFill>
          <a:ln w="12700">
            <a:solidFill>
              <a:srgbClr val="B9D3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619488" y="4343400"/>
            <a:ext cx="1792224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70" b="1">
                <a:solidFill>
                  <a:srgbClr val="2580E0"/>
                </a:solidFill>
                <a:latin typeface="Aptos"/>
              </a:defRPr>
            </a:pPr>
            <a:r>
              <a:t>LEARN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19488" y="4645152"/>
            <a:ext cx="1792224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0">
                <a:solidFill>
                  <a:srgbClr val="184674"/>
                </a:solidFill>
                <a:latin typeface="Aptos"/>
              </a:defRPr>
            </a:pPr>
            <a:r>
              <a:t>Actual vs plan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7240" y="5504688"/>
            <a:ext cx="106527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7B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60120" y="5577840"/>
            <a:ext cx="1028700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84674"/>
                </a:solidFill>
                <a:latin typeface="Aptos"/>
              </a:defRPr>
            </a:pPr>
            <a:r>
              <a:t>Expected management value: earlier visibility, clearer trade-off decisions, stronger diagnostic discipline and a repeatable learning loop. These are decision-support benefits; actual financial or service impact requires execution data.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" y="6547104"/>
            <a:ext cx="8229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5D7084"/>
                </a:solidFill>
                <a:latin typeface="Aptos"/>
              </a:defRPr>
            </a:pPr>
            <a:r>
              <a:t>Project #4 | Supply Chain Planning &amp; Operations Intelligence | Tina Vo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661"/>
    </mc:Choice>
    <mc:Fallback xmlns="">
      <p:transition spd="slow" advTm="4566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01168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50" b="1">
                <a:solidFill>
                  <a:srgbClr val="184674"/>
                </a:solidFill>
                <a:latin typeface="Aptos"/>
              </a:defRPr>
            </a:pPr>
            <a:r>
              <a:t>MANAGEMENT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85800"/>
            <a:ext cx="1060704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80" b="0">
                <a:solidFill>
                  <a:srgbClr val="5D7084"/>
                </a:solidFill>
                <a:latin typeface="Aptos"/>
              </a:defRPr>
            </a:pPr>
            <a:r>
              <a:t>The final conclusion of the planning, capacity and optimization analysis.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05840"/>
            <a:ext cx="11155680" cy="32004"/>
          </a:xfrm>
          <a:prstGeom prst="rect">
            <a:avLst/>
          </a:prstGeom>
          <a:solidFill>
            <a:srgbClr val="258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65992" y="246888"/>
            <a:ext cx="347472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900" b="1">
                <a:solidFill>
                  <a:srgbClr val="5D7084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32688" y="1417320"/>
            <a:ext cx="10332720" cy="987552"/>
          </a:xfrm>
          <a:prstGeom prst="roundRect">
            <a:avLst/>
          </a:prstGeom>
          <a:solidFill>
            <a:srgbClr val="E7F3FC"/>
          </a:solidFill>
          <a:ln w="12700">
            <a:solidFill>
              <a:srgbClr val="ABC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1572768"/>
            <a:ext cx="982980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184674"/>
                </a:solidFill>
                <a:latin typeface="Aptos"/>
              </a:defRPr>
            </a:pPr>
            <a:r>
              <a:t>Aggregate capacity does not determine planning resilience. Management must know whether usable capacity exists on the right resource, in the right period, under the objective it chooses.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697480"/>
            <a:ext cx="1028700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133856" y="2807208"/>
            <a:ext cx="402336" cy="384048"/>
          </a:xfrm>
          <a:prstGeom prst="roundRect">
            <a:avLst/>
          </a:prstGeom>
          <a:solidFill>
            <a:srgbClr val="2580E0"/>
          </a:solidFill>
          <a:ln w="12700">
            <a:solidFill>
              <a:srgbClr val="258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33856" y="2807208"/>
            <a:ext cx="4023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19072" y="2770632"/>
            <a:ext cx="26060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10" b="1">
                <a:solidFill>
                  <a:srgbClr val="184674"/>
                </a:solidFill>
                <a:latin typeface="Aptos"/>
              </a:defRPr>
            </a:pPr>
            <a:r>
              <a:t>Original planning exposure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2752344"/>
            <a:ext cx="672084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10" b="0">
                <a:solidFill>
                  <a:srgbClr val="283442"/>
                </a:solidFill>
                <a:latin typeface="Aptos"/>
              </a:defRPr>
            </a:pPr>
            <a:r>
              <a:t>~72% of demand is concentrated in P7–P8, reducing timing flexibility.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3447288"/>
            <a:ext cx="1028700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133856" y="3557016"/>
            <a:ext cx="402336" cy="384048"/>
          </a:xfrm>
          <a:prstGeom prst="roundRect">
            <a:avLst/>
          </a:prstGeom>
          <a:solidFill>
            <a:srgbClr val="C93E42"/>
          </a:solidFill>
          <a:ln w="12700">
            <a:solidFill>
              <a:srgbClr val="C93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33856" y="3557016"/>
            <a:ext cx="4023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19072" y="3520440"/>
            <a:ext cx="26060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10" b="1">
                <a:solidFill>
                  <a:srgbClr val="184674"/>
                </a:solidFill>
                <a:latin typeface="Aptos"/>
              </a:defRPr>
            </a:pPr>
            <a:r>
              <a:t>Localized capacity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3502152"/>
            <a:ext cx="672084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10" b="0">
                <a:solidFill>
                  <a:srgbClr val="283442"/>
                </a:solidFill>
                <a:latin typeface="Aptos"/>
              </a:defRPr>
            </a:pPr>
            <a:r>
              <a:t>62.31% aggregate utilization still coexists with 14 saturated machine-period combinations.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4197096"/>
            <a:ext cx="1028700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133856" y="4306824"/>
            <a:ext cx="402336" cy="384048"/>
          </a:xfrm>
          <a:prstGeom prst="roundRect">
            <a:avLst/>
          </a:prstGeom>
          <a:solidFill>
            <a:srgbClr val="DA8F1A"/>
          </a:solidFill>
          <a:ln w="12700">
            <a:solidFill>
              <a:srgbClr val="DA8F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33856" y="4306824"/>
            <a:ext cx="4023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19072" y="4270248"/>
            <a:ext cx="26060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10" b="1">
                <a:solidFill>
                  <a:srgbClr val="184674"/>
                </a:solidFill>
                <a:latin typeface="Aptos"/>
              </a:defRPr>
            </a:pPr>
            <a:r>
              <a:t>Optimization creates trade-offs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4251959"/>
            <a:ext cx="672084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10" b="0">
                <a:solidFill>
                  <a:srgbClr val="283442"/>
                </a:solidFill>
                <a:latin typeface="Aptos"/>
              </a:defRPr>
            </a:pPr>
            <a:r>
              <a:t>All scenarios fulfill modeled demand, but processing effort, implied overtime and allocation activity change.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" y="4946904"/>
            <a:ext cx="10287000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133856" y="5056632"/>
            <a:ext cx="402336" cy="384048"/>
          </a:xfrm>
          <a:prstGeom prst="roundRect">
            <a:avLst/>
          </a:prstGeom>
          <a:solidFill>
            <a:srgbClr val="368F5D"/>
          </a:solidFill>
          <a:ln w="12700">
            <a:solidFill>
              <a:srgbClr val="368F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33856" y="5056632"/>
            <a:ext cx="402336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19072" y="5020056"/>
            <a:ext cx="2606040" cy="219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10" b="1">
                <a:solidFill>
                  <a:srgbClr val="184674"/>
                </a:solidFill>
                <a:latin typeface="Aptos"/>
              </a:defRPr>
            </a:pPr>
            <a:r>
              <a:t>Management needs an adaptive strategy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5001768"/>
            <a:ext cx="6720840" cy="2834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10" b="0">
                <a:solidFill>
                  <a:srgbClr val="283442"/>
                </a:solidFill>
                <a:latin typeface="Aptos"/>
              </a:defRPr>
            </a:pPr>
            <a:r>
              <a:t>Use scenario selection as a dynamic decision framework and validate modeled plans against execution.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5833872"/>
            <a:ext cx="1001268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7B5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280160" y="5907024"/>
            <a:ext cx="9646920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70" b="1">
                <a:solidFill>
                  <a:srgbClr val="184674"/>
                </a:solidFill>
                <a:latin typeface="Aptos"/>
              </a:defRPr>
            </a:pPr>
            <a:r>
              <a:rPr dirty="0"/>
              <a:t>Decision-support principle: make the trade-offs visible, choose deliberately, monitor constraints, and learn from actual outcomes.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47104"/>
            <a:ext cx="822960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5D7084"/>
                </a:solidFill>
                <a:latin typeface="Aptos"/>
              </a:defRPr>
            </a:pPr>
            <a:r>
              <a:t>Project #4 | Supply Chain Planning &amp; Operations Intelligence | Tina Vo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866"/>
    </mc:Choice>
    <mc:Fallback xmlns="">
      <p:transition spd="slow" advTm="39866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46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17720" y="1938528"/>
            <a:ext cx="2971800" cy="54864"/>
          </a:xfrm>
          <a:prstGeom prst="rect">
            <a:avLst/>
          </a:prstGeom>
          <a:solidFill>
            <a:srgbClr val="258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12848"/>
            <a:ext cx="10360152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999232"/>
            <a:ext cx="9902952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D3E1EE"/>
                </a:solidFill>
                <a:latin typeface="Aptos"/>
              </a:defRPr>
            </a:pPr>
            <a:r>
              <a:t>Supply Chain Planning &amp; Operations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657600"/>
            <a:ext cx="9628632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5989320"/>
            <a:ext cx="9628632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D3E1EE"/>
                </a:solidFill>
                <a:latin typeface="Aptos"/>
              </a:defRPr>
            </a:pPr>
            <a:r>
              <a:t>Project #4  |  Tina Vo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870"/>
    </mc:Choice>
    <mc:Fallback xmlns="">
      <p:transition spd="slow" advTm="2587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2960</TotalTime>
  <Words>2543</Words>
  <Application>Microsoft Office PowerPoint</Application>
  <PresentationFormat>Widescreen</PresentationFormat>
  <Paragraphs>316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Jimmy Ly</dc:creator>
  <cp:keywords/>
  <dc:description>generated using python-pptx</dc:description>
  <cp:lastModifiedBy>Jimmy Ly</cp:lastModifiedBy>
  <cp:revision>23</cp:revision>
  <dcterms:created xsi:type="dcterms:W3CDTF">2013-01-27T09:14:16Z</dcterms:created>
  <dcterms:modified xsi:type="dcterms:W3CDTF">2026-10-08T00:48:15Z</dcterms:modified>
  <cp:category/>
</cp:coreProperties>
</file>